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5143500" cx="9144000"/>
  <p:notesSz cx="6858000" cy="9144000"/>
  <p:embeddedFontLst>
    <p:embeddedFont>
      <p:font typeface="Proxima Nova"/>
      <p:regular r:id="rId22"/>
      <p:bold r:id="rId23"/>
      <p:italic r:id="rId24"/>
      <p:boldItalic r:id="rId25"/>
    </p:embeddedFont>
    <p:embeddedFont>
      <p:font typeface="Alfa Slab One"/>
      <p:regular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99C4DB7-E31E-4600-B2E0-8472FB371ECC}">
  <a:tblStyle styleId="{999C4DB7-E31E-4600-B2E0-8472FB371ECC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ProximaNova-regular.fntdata"/><Relationship Id="rId21" Type="http://schemas.openxmlformats.org/officeDocument/2006/relationships/slide" Target="slides/slide15.xml"/><Relationship Id="rId24" Type="http://schemas.openxmlformats.org/officeDocument/2006/relationships/font" Target="fonts/ProximaNova-italic.fntdata"/><Relationship Id="rId23" Type="http://schemas.openxmlformats.org/officeDocument/2006/relationships/font" Target="fonts/ProximaNova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AlfaSlabOne-regular.fntdata"/><Relationship Id="rId25" Type="http://schemas.openxmlformats.org/officeDocument/2006/relationships/font" Target="fonts/ProximaNova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a6b9ca96a0_0_2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g3a6b9ca96a0_0_2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a6b9ca96a0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a6b9ca96a0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a6b9ca96a0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a6b9ca96a0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a6b9ca96a0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a6b9ca96a0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a8e04c30ca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a8e04c30ca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a6b9ca96a0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a6b9ca96a0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a8e04c30ca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a8e04c30ca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a6b9ca96a0_0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a6b9ca96a0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a6b9ca96a0_0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a6b9ca96a0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a6b9ca96a0_0_1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a6b9ca96a0_0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a8e04c30ca_0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a8e04c30ca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a6b9ca96a0_0_2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a6b9ca96a0_0_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a8e04c30ca_0_1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a8e04c30ca_0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a8e04c30ca_0_1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a8e04c30ca_0_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a8e04c30ca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a8e04c30ca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4278300" y="2751163"/>
            <a:ext cx="587400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595975"/>
            <a:ext cx="8520600" cy="195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3165823"/>
            <a:ext cx="8520600" cy="73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2480550"/>
            <a:ext cx="8114400" cy="244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490875"/>
            <a:ext cx="2808000" cy="307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526350"/>
            <a:ext cx="5683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10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" name="Google Shape;38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375599"/>
            <a:ext cx="4045200" cy="155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2981125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lfa Slab One"/>
              <a:buNone/>
              <a:defRPr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167925"/>
            <a:ext cx="8520600" cy="198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32242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ameday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roxima Nova"/>
              <a:buChar char="●"/>
              <a:defRPr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Relationship Id="rId4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idx="4294967295" type="ctrTitle"/>
          </p:nvPr>
        </p:nvSpPr>
        <p:spPr>
          <a:xfrm>
            <a:off x="311700" y="1592850"/>
            <a:ext cx="8520600" cy="195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1300"/>
              </a:spcBef>
              <a:spcAft>
                <a:spcPts val="0"/>
              </a:spcAft>
              <a:buNone/>
            </a:pPr>
            <a:r>
              <a:rPr b="1" lang="zh-CN" sz="2200">
                <a:solidFill>
                  <a:srgbClr val="0B1565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顧客特性を予測して解約を防ぐ</a:t>
            </a:r>
            <a:endParaRPr b="1" sz="2200">
              <a:solidFill>
                <a:srgbClr val="0B1565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70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rgbClr val="0B156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3"/>
          <p:cNvSpPr txBox="1"/>
          <p:nvPr>
            <p:ph idx="4294967295" type="subTitle"/>
          </p:nvPr>
        </p:nvSpPr>
        <p:spPr>
          <a:xfrm>
            <a:off x="311700" y="2899898"/>
            <a:ext cx="8520600" cy="73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zh-CN" sz="1600">
                <a:latin typeface="Arial"/>
                <a:ea typeface="Arial"/>
                <a:cs typeface="Arial"/>
                <a:sym typeface="Arial"/>
              </a:rPr>
              <a:t>孫銘鴻 202511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1413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2100">
                <a:solidFill>
                  <a:srgbClr val="0B1565"/>
                </a:solidFill>
                <a:latin typeface="Arial"/>
                <a:ea typeface="Arial"/>
                <a:cs typeface="Arial"/>
                <a:sym typeface="Arial"/>
              </a:rPr>
              <a:t>Executive Summary</a:t>
            </a:r>
            <a:endParaRPr b="1" sz="2100">
              <a:solidFill>
                <a:srgbClr val="0B156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63" name="Google Shape;63;p14"/>
          <p:cNvGraphicFramePr/>
          <p:nvPr/>
        </p:nvGraphicFramePr>
        <p:xfrm>
          <a:off x="360700" y="714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{999C4DB7-E31E-4600-B2E0-8472FB371ECC}</a:tableStyleId>
              </a:tblPr>
              <a:tblGrid>
                <a:gridCol w="1636700"/>
                <a:gridCol w="6263450"/>
              </a:tblGrid>
              <a:tr h="266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900">
                          <a:solidFill>
                            <a:srgbClr val="333333"/>
                          </a:solidFill>
                        </a:rPr>
                        <a:t>背景</a:t>
                      </a:r>
                      <a:endParaRPr sz="900">
                        <a:solidFill>
                          <a:srgbClr val="333333"/>
                        </a:solidFill>
                      </a:endParaRPr>
                    </a:p>
                  </a:txBody>
                  <a:tcPr marT="91450" marB="91450" marR="91450" marL="9145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900">
                          <a:solidFill>
                            <a:srgbClr val="333333"/>
                          </a:solidFill>
                          <a:highlight>
                            <a:srgbClr val="FFFFFF"/>
                          </a:highlight>
                        </a:rPr>
                        <a:t>競争の激しい通信業界において、顧客の解約は企業の収益に直接的な影響を与える重要な要素です。</a:t>
                      </a:r>
                      <a:endParaRPr sz="900">
                        <a:solidFill>
                          <a:srgbClr val="333333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50" marB="91450" marR="91450" marL="9145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324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900">
                          <a:solidFill>
                            <a:srgbClr val="333333"/>
                          </a:solidFill>
                        </a:rPr>
                        <a:t>目的</a:t>
                      </a:r>
                      <a:endParaRPr sz="900">
                        <a:solidFill>
                          <a:srgbClr val="333333"/>
                        </a:solidFill>
                      </a:endParaRPr>
                    </a:p>
                  </a:txBody>
                  <a:tcPr marT="91450" marB="91450" marR="91450" marL="9145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8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900">
                          <a:solidFill>
                            <a:srgbClr val="333333"/>
                          </a:solidFill>
                          <a:highlight>
                            <a:srgbClr val="FFFFFF"/>
                          </a:highlight>
                        </a:rPr>
                        <a:t>データ分析および機械学習により解約リスクの高い顧客を特定し、</a:t>
                      </a:r>
                      <a:endParaRPr sz="900">
                        <a:solidFill>
                          <a:srgbClr val="333333"/>
                        </a:solidFill>
                        <a:highlight>
                          <a:srgbClr val="FFFFFF"/>
                        </a:highlight>
                      </a:endParaRPr>
                    </a:p>
                    <a:p>
                      <a:pPr indent="0" lvl="0" marL="0" rtl="0" algn="l">
                        <a:lnSpc>
                          <a:spcPct val="8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zh-CN" sz="900">
                          <a:solidFill>
                            <a:srgbClr val="333333"/>
                          </a:solidFill>
                          <a:highlight>
                            <a:srgbClr val="FFFFFF"/>
                          </a:highlight>
                        </a:rPr>
                        <a:t>その特徴を把握した上で、効果的な顧客維持施策の立案を支援する。</a:t>
                      </a:r>
                      <a:endParaRPr sz="900">
                        <a:solidFill>
                          <a:srgbClr val="333333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50" marB="91450" marR="91450" marL="9145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22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900">
                          <a:solidFill>
                            <a:srgbClr val="333333"/>
                          </a:solidFill>
                        </a:rPr>
                        <a:t>使用データ</a:t>
                      </a:r>
                      <a:r>
                        <a:rPr lang="zh-CN" sz="900">
                          <a:solidFill>
                            <a:srgbClr val="333333"/>
                          </a:solidFill>
                        </a:rPr>
                        <a:t>概要</a:t>
                      </a:r>
                      <a:endParaRPr sz="900">
                        <a:solidFill>
                          <a:srgbClr val="333333"/>
                        </a:solidFill>
                      </a:endParaRPr>
                    </a:p>
                  </a:txBody>
                  <a:tcPr marT="91450" marB="91450" marR="91450" marL="9145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4949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900">
                          <a:solidFill>
                            <a:srgbClr val="333333"/>
                          </a:solidFill>
                        </a:rPr>
                        <a:t>アメリカ通信会社の契約データを使用</a:t>
                      </a:r>
                      <a:endParaRPr sz="900">
                        <a:solidFill>
                          <a:srgbClr val="333333"/>
                        </a:solidFill>
                      </a:endParaRPr>
                    </a:p>
                    <a:p>
                      <a:pPr indent="-285750" lvl="0" marL="45720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00"/>
                        <a:buChar char="-"/>
                      </a:pPr>
                      <a:r>
                        <a:rPr lang="zh-CN" sz="900">
                          <a:solidFill>
                            <a:srgbClr val="333333"/>
                          </a:solidFill>
                        </a:rPr>
                        <a:t>7,043 名の顧客</a:t>
                      </a:r>
                      <a:endParaRPr sz="900">
                        <a:solidFill>
                          <a:srgbClr val="333333"/>
                        </a:solidFill>
                      </a:endParaRPr>
                    </a:p>
                    <a:p>
                      <a:pPr indent="-285750" lvl="0" marL="45720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00"/>
                        <a:buChar char="-"/>
                      </a:pPr>
                      <a:r>
                        <a:rPr lang="zh-CN" sz="900">
                          <a:solidFill>
                            <a:srgbClr val="333333"/>
                          </a:solidFill>
                        </a:rPr>
                        <a:t>21 個の説明変数 + 1 個の目的変数（Churn）</a:t>
                      </a:r>
                      <a:endParaRPr sz="900">
                        <a:solidFill>
                          <a:srgbClr val="333333"/>
                        </a:solidFill>
                      </a:endParaRPr>
                    </a:p>
                  </a:txBody>
                  <a:tcPr marT="91450" marB="91450" marR="91450" marL="9145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89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900">
                          <a:solidFill>
                            <a:srgbClr val="333333"/>
                          </a:solidFill>
                        </a:rPr>
                        <a:t>分析内容1</a:t>
                      </a:r>
                      <a:endParaRPr sz="900">
                        <a:solidFill>
                          <a:srgbClr val="333333"/>
                        </a:solidFill>
                      </a:endParaRPr>
                    </a:p>
                  </a:txBody>
                  <a:tcPr marT="91450" marB="91450" marR="91450" marL="9145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4949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4949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8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zh-CN" sz="900">
                          <a:solidFill>
                            <a:srgbClr val="333333"/>
                          </a:solidFill>
                        </a:rPr>
                        <a:t>解約しやすい顧客の特徴を抽出</a:t>
                      </a:r>
                      <a:endParaRPr sz="900">
                        <a:solidFill>
                          <a:srgbClr val="333333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50" marB="91450" marR="91450" marL="9145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89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900">
                          <a:solidFill>
                            <a:srgbClr val="333333"/>
                          </a:solidFill>
                        </a:rPr>
                        <a:t>分析内容2</a:t>
                      </a:r>
                      <a:endParaRPr sz="900">
                        <a:solidFill>
                          <a:srgbClr val="333333"/>
                        </a:solidFill>
                      </a:endParaRPr>
                    </a:p>
                  </a:txBody>
                  <a:tcPr marT="91450" marB="91450" marR="91450" marL="9145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4949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4949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8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zh-CN" sz="900">
                          <a:solidFill>
                            <a:srgbClr val="333333"/>
                          </a:solidFill>
                        </a:rPr>
                        <a:t> XGBoostで各特徴の重要度を評価</a:t>
                      </a:r>
                      <a:endParaRPr sz="900">
                        <a:solidFill>
                          <a:srgbClr val="333333"/>
                        </a:solidFill>
                      </a:endParaRPr>
                    </a:p>
                  </a:txBody>
                  <a:tcPr marT="91450" marB="91450" marR="91450" marL="9145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89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900">
                          <a:solidFill>
                            <a:srgbClr val="333333"/>
                          </a:solidFill>
                        </a:rPr>
                        <a:t>結論1</a:t>
                      </a:r>
                      <a:endParaRPr sz="900">
                        <a:solidFill>
                          <a:srgbClr val="333333"/>
                        </a:solidFill>
                      </a:endParaRPr>
                    </a:p>
                  </a:txBody>
                  <a:tcPr marT="91450" marB="91450" marR="91450" marL="9145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4949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4949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8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zh-CN" sz="900">
                          <a:solidFill>
                            <a:srgbClr val="333333"/>
                          </a:solidFill>
                        </a:rPr>
                        <a:t>解約しやすい顧客の特徴を抽出し各特徴の重要度を算出、</a:t>
                      </a:r>
                      <a:r>
                        <a:rPr lang="zh-CN" sz="900">
                          <a:solidFill>
                            <a:srgbClr val="333333"/>
                          </a:solidFill>
                          <a:highlight>
                            <a:srgbClr val="FFFFFF"/>
                          </a:highlight>
                        </a:rPr>
                        <a:t>顧客維持施策の提案に活用可能</a:t>
                      </a:r>
                      <a:endParaRPr sz="900">
                        <a:solidFill>
                          <a:srgbClr val="333333"/>
                        </a:solidFill>
                      </a:endParaRPr>
                    </a:p>
                  </a:txBody>
                  <a:tcPr marT="91450" marB="91450" marR="91450" marL="9145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89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900">
                          <a:solidFill>
                            <a:srgbClr val="333333"/>
                          </a:solidFill>
                        </a:rPr>
                        <a:t>結論2</a:t>
                      </a:r>
                      <a:endParaRPr sz="900">
                        <a:solidFill>
                          <a:srgbClr val="333333"/>
                        </a:solidFill>
                      </a:endParaRPr>
                    </a:p>
                  </a:txBody>
                  <a:tcPr marT="91450" marB="91450" marR="91450" marL="9145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4949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4949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8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zh-CN" sz="900">
                          <a:solidFill>
                            <a:srgbClr val="333333"/>
                          </a:solidFill>
                        </a:rPr>
                        <a:t>得られた解約リスク顧客の特徴と特徴重要度に基づき、顧客維持の具体施策を提案</a:t>
                      </a:r>
                      <a:endParaRPr sz="900">
                        <a:solidFill>
                          <a:srgbClr val="333333"/>
                        </a:solidFill>
                      </a:endParaRPr>
                    </a:p>
                  </a:txBody>
                  <a:tcPr marT="91450" marB="91450" marR="91450" marL="9145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idx="4294967295" type="ctrTitle"/>
          </p:nvPr>
        </p:nvSpPr>
        <p:spPr>
          <a:xfrm>
            <a:off x="311700" y="1956775"/>
            <a:ext cx="8520600" cy="195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zh-CN" sz="2200">
                <a:solidFill>
                  <a:srgbClr val="0B1565"/>
                </a:solidFill>
                <a:latin typeface="Arial"/>
                <a:ea typeface="Arial"/>
                <a:cs typeface="Arial"/>
                <a:sym typeface="Arial"/>
              </a:rPr>
              <a:t>解約しやすい顧客の特徴を抽出</a:t>
            </a:r>
            <a:endParaRPr b="1" sz="2200">
              <a:solidFill>
                <a:srgbClr val="0B1565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500">
              <a:solidFill>
                <a:srgbClr val="0B156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0B1565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62100" y="164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800">
                <a:solidFill>
                  <a:srgbClr val="0B1565"/>
                </a:solidFill>
                <a:latin typeface="Arial"/>
                <a:ea typeface="Arial"/>
                <a:cs typeface="Arial"/>
                <a:sym typeface="Arial"/>
              </a:rPr>
              <a:t>分析方法</a:t>
            </a:r>
            <a:endParaRPr b="1" sz="1800">
              <a:solidFill>
                <a:srgbClr val="0B156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62100" y="540975"/>
            <a:ext cx="8713200" cy="444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zh-CN" sz="11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流失しやすい顧客の特徴把握</a:t>
            </a:r>
            <a:endParaRPr b="1" sz="110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AutoNum type="arabicPeriod"/>
            </a:pPr>
            <a:r>
              <a:rPr lang="zh-CN" sz="110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説明変数と目的変数（解約）の相関性を確認</a:t>
            </a:r>
            <a:endParaRPr sz="1100">
              <a:solidFill>
                <a:srgbClr val="333333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298450" lvl="0" marL="9144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Char char="●"/>
            </a:pPr>
            <a:r>
              <a:rPr lang="zh-CN" sz="110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相関性がない変数は、解約に影響がないと判断</a:t>
            </a:r>
            <a:endParaRPr sz="1100">
              <a:solidFill>
                <a:srgbClr val="333333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AutoNum type="arabicPeriod"/>
            </a:pPr>
            <a:r>
              <a:rPr lang="zh-CN" sz="11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各特徴のカテゴリ別頻度を比較</a:t>
            </a:r>
            <a:endParaRPr sz="110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zh-CN" sz="11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2. 注意点</a:t>
            </a:r>
            <a:endParaRPr b="1" sz="110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Char char="●"/>
            </a:pPr>
            <a:r>
              <a:rPr lang="zh-CN" sz="11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サンプル分布が偏っているため（解約顧客 26.5％ / 未解約顧客 73.5％）</a:t>
            </a:r>
            <a:endParaRPr sz="110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Char char="●"/>
            </a:pPr>
            <a:r>
              <a:rPr lang="zh-CN" sz="11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単純な頻度だけでは解約しやすい特徴を正確に抽出できない</a:t>
            </a:r>
            <a:endParaRPr sz="110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Char char="○"/>
            </a:pPr>
            <a:r>
              <a:rPr lang="zh-CN" sz="11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例えば：図のように、性別の場合、未解約顧客の人数が解約顧客の約3倍、このまま単純な頻度比較をすると、　　　　単純な人数比較では、解約リスクを正しく評価できない</a:t>
            </a:r>
            <a:endParaRPr sz="110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Char char="○"/>
            </a:pPr>
            <a:r>
              <a:rPr lang="zh-CN" sz="11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解決方法：クロス分析</a:t>
            </a:r>
            <a:endParaRPr sz="110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zh-CN" sz="11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3. クロス分析ては</a:t>
            </a:r>
            <a:endParaRPr b="1" sz="110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Char char="●"/>
            </a:pPr>
            <a:r>
              <a:rPr lang="zh-CN" sz="11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2つの項目の比率を相対比較</a:t>
            </a:r>
            <a:endParaRPr sz="110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Char char="○"/>
            </a:pPr>
            <a:r>
              <a:rPr lang="zh-CN" sz="11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例：性別の場合、解約会員 26.5％に対し、男性の比率 &gt;26.5％ → 男性が解約しやすい</a:t>
            </a:r>
            <a:endParaRPr sz="110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440"/>
              <a:buNone/>
            </a:pPr>
            <a:r>
              <a:t/>
            </a:r>
            <a:endParaRPr sz="110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5" name="Google Shape;7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950" y="164225"/>
            <a:ext cx="1997925" cy="1837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69100" y="947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zh-CN" sz="1800">
                <a:solidFill>
                  <a:srgbClr val="0B1565"/>
                </a:solidFill>
                <a:latin typeface="Arial"/>
                <a:ea typeface="Arial"/>
                <a:cs typeface="Arial"/>
                <a:sym typeface="Arial"/>
              </a:rPr>
              <a:t>説明変数と目的変数（解約）の相関性確認結果</a:t>
            </a:r>
            <a:endParaRPr b="1" sz="1800">
              <a:solidFill>
                <a:srgbClr val="0B156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B156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1" name="Google Shape;81;p17"/>
          <p:cNvGrpSpPr/>
          <p:nvPr/>
        </p:nvGrpSpPr>
        <p:grpSpPr>
          <a:xfrm>
            <a:off x="369101" y="569457"/>
            <a:ext cx="5971145" cy="3808649"/>
            <a:chOff x="89175" y="637400"/>
            <a:chExt cx="6592851" cy="4205200"/>
          </a:xfrm>
        </p:grpSpPr>
        <p:pic>
          <p:nvPicPr>
            <p:cNvPr id="82" name="Google Shape;82;p1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9175" y="637400"/>
              <a:ext cx="6592851" cy="4205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3" name="Google Shape;83;p17"/>
            <p:cNvSpPr/>
            <p:nvPr/>
          </p:nvSpPr>
          <p:spPr>
            <a:xfrm>
              <a:off x="2743200" y="2246350"/>
              <a:ext cx="615900" cy="433800"/>
            </a:xfrm>
            <a:prstGeom prst="rect">
              <a:avLst/>
            </a:prstGeom>
            <a:noFill/>
            <a:ln cap="flat" cmpd="sng" w="8625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2800" lIns="82800" spcFirstLastPara="1" rIns="82800" wrap="square" tIns="82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67"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sp>
        <p:nvSpPr>
          <p:cNvPr id="84" name="Google Shape;84;p17"/>
          <p:cNvSpPr txBox="1"/>
          <p:nvPr>
            <p:ph idx="1" type="body"/>
          </p:nvPr>
        </p:nvSpPr>
        <p:spPr>
          <a:xfrm>
            <a:off x="369100" y="4341900"/>
            <a:ext cx="8520600" cy="68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「gender」と「 PhoneService」は Churn との相関性がほぼ0である</a:t>
            </a:r>
            <a:endParaRPr sz="900">
              <a:solidFill>
                <a:srgbClr val="333333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440"/>
              <a:buNone/>
            </a:pPr>
            <a:r>
              <a:rPr lang="zh-CN" sz="90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「性別」と「</a:t>
            </a:r>
            <a:r>
              <a:rPr lang="zh-CN" sz="90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PhoneService</a:t>
            </a:r>
            <a:r>
              <a:rPr lang="zh-CN" sz="90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」は解約に</a:t>
            </a:r>
            <a:r>
              <a:rPr lang="zh-CN" sz="900">
                <a:solidFill>
                  <a:srgbClr val="CC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影響がない</a:t>
            </a:r>
            <a:r>
              <a:rPr lang="zh-CN" sz="90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と判断できる</a:t>
            </a:r>
            <a:endParaRPr sz="90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187400" y="446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900"/>
              </a:spcBef>
              <a:spcAft>
                <a:spcPts val="600"/>
              </a:spcAft>
              <a:buNone/>
            </a:pPr>
            <a:r>
              <a:rPr b="1" lang="zh-CN" sz="1800">
                <a:solidFill>
                  <a:srgbClr val="0B1565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クロス分析結果</a:t>
            </a:r>
            <a:endParaRPr b="1" sz="1800">
              <a:solidFill>
                <a:srgbClr val="0B156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0" name="Google Shape;9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7400" y="454825"/>
            <a:ext cx="8335626" cy="3142125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8"/>
          <p:cNvSpPr txBox="1"/>
          <p:nvPr>
            <p:ph idx="1" type="body"/>
          </p:nvPr>
        </p:nvSpPr>
        <p:spPr>
          <a:xfrm>
            <a:off x="187400" y="3471000"/>
            <a:ext cx="8520600" cy="167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以下の特徴を持つユーザーは解約しやすい傾向があります：</a:t>
            </a:r>
            <a:endParaRPr sz="90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lang="zh-CN" sz="9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若年層 ＋ 独身 ＋ 扶養家族なし ＋ 「Fiber optic」を利用 </a:t>
            </a:r>
            <a:r>
              <a:rPr lang="zh-CN" sz="9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＋ </a:t>
            </a:r>
            <a:r>
              <a:rPr lang="zh-CN" sz="9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「OnlineSecurity」を未契約 ＋「オンラインバックアップサービス」を未契約 ＋</a:t>
            </a:r>
            <a:endParaRPr sz="90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lang="zh-CN" sz="9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「DeviceProtection」</a:t>
            </a:r>
            <a:r>
              <a:rPr lang="zh-CN" sz="9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を未契約 + 「TechSupport」を未契約 + 「TechSupport」を未契約 +  月単位(Month-to-Month)で契約 + 「PaperlessBilling」を契約 + </a:t>
            </a:r>
            <a:endParaRPr sz="90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lang="zh-CN" sz="9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「Electronic check」で支払う</a:t>
            </a:r>
            <a:endParaRPr sz="90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lang="zh-CN" sz="900">
                <a:solidFill>
                  <a:srgbClr val="FF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MultipleLinesは解約に影響なし</a:t>
            </a:r>
            <a:endParaRPr sz="900">
              <a:solidFill>
                <a:srgbClr val="FF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500"/>
              </a:spcBef>
              <a:spcAft>
                <a:spcPts val="1200"/>
              </a:spcAft>
              <a:buSzPts val="440"/>
              <a:buNone/>
            </a:pPr>
            <a:r>
              <a:t/>
            </a:r>
            <a:endParaRPr sz="900">
              <a:solidFill>
                <a:srgbClr val="3E3A3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idx="4294967295" type="ctrTitle"/>
          </p:nvPr>
        </p:nvSpPr>
        <p:spPr>
          <a:xfrm>
            <a:off x="311700" y="1956775"/>
            <a:ext cx="8520600" cy="195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zh-CN" sz="2200">
                <a:solidFill>
                  <a:srgbClr val="0B1565"/>
                </a:solidFill>
                <a:latin typeface="Arial"/>
                <a:ea typeface="Arial"/>
                <a:cs typeface="Arial"/>
                <a:sym typeface="Arial"/>
              </a:rPr>
              <a:t> XGBoostで各特徴の重要度を評価</a:t>
            </a:r>
            <a:endParaRPr b="1" sz="2200">
              <a:solidFill>
                <a:srgbClr val="0B156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B156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500">
              <a:solidFill>
                <a:srgbClr val="0B156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0B1565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/>
          <p:nvPr>
            <p:ph type="title"/>
          </p:nvPr>
        </p:nvSpPr>
        <p:spPr>
          <a:xfrm>
            <a:off x="142950" y="1251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800">
                <a:solidFill>
                  <a:srgbClr val="0B1565"/>
                </a:solidFill>
                <a:latin typeface="Arial"/>
                <a:ea typeface="Arial"/>
                <a:cs typeface="Arial"/>
                <a:sym typeface="Arial"/>
              </a:rPr>
              <a:t>分析方法とモデルの説明</a:t>
            </a:r>
            <a:endParaRPr b="1" sz="1800">
              <a:solidFill>
                <a:srgbClr val="0B156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900"/>
              </a:spcBef>
              <a:spcAft>
                <a:spcPts val="600"/>
              </a:spcAft>
              <a:buNone/>
            </a:pPr>
            <a:r>
              <a:t/>
            </a:r>
            <a:endParaRPr b="1" sz="1800">
              <a:solidFill>
                <a:srgbClr val="0B156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2" name="Google Shape;102;p20"/>
          <p:cNvGrpSpPr/>
          <p:nvPr/>
        </p:nvGrpSpPr>
        <p:grpSpPr>
          <a:xfrm>
            <a:off x="224232" y="895494"/>
            <a:ext cx="7201688" cy="4093719"/>
            <a:chOff x="142950" y="510850"/>
            <a:chExt cx="6373175" cy="4492175"/>
          </a:xfrm>
        </p:grpSpPr>
        <p:pic>
          <p:nvPicPr>
            <p:cNvPr id="103" name="Google Shape;103;p2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226025" y="2236200"/>
              <a:ext cx="1428750" cy="11049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4" name="Google Shape;104;p20"/>
            <p:cNvSpPr/>
            <p:nvPr/>
          </p:nvSpPr>
          <p:spPr>
            <a:xfrm>
              <a:off x="142950" y="839765"/>
              <a:ext cx="1171500" cy="216900"/>
            </a:xfrm>
            <a:prstGeom prst="rect">
              <a:avLst/>
            </a:prstGeom>
            <a:solidFill>
              <a:srgbClr val="FCE5CD"/>
            </a:solidFill>
            <a:ln>
              <a:noFill/>
            </a:ln>
            <a:effectLst>
              <a:outerShdw blurRad="52083" rotWithShape="0" algn="bl" dir="5400000" dist="17361">
                <a:srgbClr val="000000">
                  <a:alpha val="50000"/>
                </a:srgbClr>
              </a:outerShdw>
            </a:effectLst>
          </p:spPr>
          <p:txBody>
            <a:bodyPr anchorCtr="0" anchor="ctr" bIns="83325" lIns="83325" spcFirstLastPara="1" rIns="83325" wrap="square" tIns="833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CN" sz="820">
                  <a:solidFill>
                    <a:srgbClr val="333333"/>
                  </a:solidFill>
                </a:rPr>
                <a:t>SeniorCitizen</a:t>
              </a:r>
              <a:endParaRPr b="1" sz="820">
                <a:solidFill>
                  <a:srgbClr val="333333"/>
                </a:solidFill>
              </a:endParaRPr>
            </a:p>
          </p:txBody>
        </p:sp>
        <p:sp>
          <p:nvSpPr>
            <p:cNvPr id="105" name="Google Shape;105;p20"/>
            <p:cNvSpPr/>
            <p:nvPr/>
          </p:nvSpPr>
          <p:spPr>
            <a:xfrm>
              <a:off x="142950" y="1366075"/>
              <a:ext cx="1171500" cy="216900"/>
            </a:xfrm>
            <a:prstGeom prst="rect">
              <a:avLst/>
            </a:prstGeom>
            <a:solidFill>
              <a:srgbClr val="FCE5CD"/>
            </a:solidFill>
            <a:ln>
              <a:noFill/>
            </a:ln>
            <a:effectLst>
              <a:outerShdw blurRad="52083" rotWithShape="0" algn="bl" dir="5400000" dist="17361">
                <a:srgbClr val="000000">
                  <a:alpha val="50000"/>
                </a:srgbClr>
              </a:outerShdw>
            </a:effectLst>
          </p:spPr>
          <p:txBody>
            <a:bodyPr anchorCtr="0" anchor="ctr" bIns="83325" lIns="83325" spcFirstLastPara="1" rIns="83325" wrap="square" tIns="833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CN" sz="820">
                  <a:solidFill>
                    <a:srgbClr val="333333"/>
                  </a:solidFill>
                </a:rPr>
                <a:t>Dependents</a:t>
              </a:r>
              <a:endParaRPr b="1" sz="820">
                <a:solidFill>
                  <a:srgbClr val="333333"/>
                </a:solidFill>
              </a:endParaRPr>
            </a:p>
          </p:txBody>
        </p:sp>
        <p:sp>
          <p:nvSpPr>
            <p:cNvPr id="106" name="Google Shape;106;p20"/>
            <p:cNvSpPr/>
            <p:nvPr/>
          </p:nvSpPr>
          <p:spPr>
            <a:xfrm>
              <a:off x="142950" y="1638273"/>
              <a:ext cx="1171500" cy="216900"/>
            </a:xfrm>
            <a:prstGeom prst="rect">
              <a:avLst/>
            </a:prstGeom>
            <a:solidFill>
              <a:srgbClr val="D9EAD3"/>
            </a:solidFill>
            <a:ln>
              <a:noFill/>
            </a:ln>
            <a:effectLst>
              <a:outerShdw blurRad="52083" rotWithShape="0" algn="bl" dir="5400000" dist="17361">
                <a:srgbClr val="000000">
                  <a:alpha val="50000"/>
                </a:srgbClr>
              </a:outerShdw>
            </a:effectLst>
          </p:spPr>
          <p:txBody>
            <a:bodyPr anchorCtr="0" anchor="ctr" bIns="83325" lIns="83325" spcFirstLastPara="1" rIns="83325" wrap="square" tIns="833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CN" sz="820">
                  <a:solidFill>
                    <a:srgbClr val="333333"/>
                  </a:solidFill>
                </a:rPr>
                <a:t>PaperlessBilling</a:t>
              </a:r>
              <a:endParaRPr b="1" sz="820">
                <a:solidFill>
                  <a:srgbClr val="333333"/>
                </a:solidFill>
              </a:endParaRPr>
            </a:p>
          </p:txBody>
        </p:sp>
        <p:sp>
          <p:nvSpPr>
            <p:cNvPr id="107" name="Google Shape;107;p20"/>
            <p:cNvSpPr/>
            <p:nvPr/>
          </p:nvSpPr>
          <p:spPr>
            <a:xfrm>
              <a:off x="142950" y="2418750"/>
              <a:ext cx="1171500" cy="216900"/>
            </a:xfrm>
            <a:prstGeom prst="rect">
              <a:avLst/>
            </a:prstGeom>
            <a:solidFill>
              <a:srgbClr val="CFE2F3"/>
            </a:solidFill>
            <a:ln>
              <a:noFill/>
            </a:ln>
            <a:effectLst>
              <a:outerShdw blurRad="52083" rotWithShape="0" algn="bl" dir="5400000" dist="17361">
                <a:srgbClr val="000000">
                  <a:alpha val="50000"/>
                </a:srgbClr>
              </a:outerShdw>
            </a:effectLst>
          </p:spPr>
          <p:txBody>
            <a:bodyPr anchorCtr="0" anchor="ctr" bIns="83325" lIns="83325" spcFirstLastPara="1" rIns="83325" wrap="square" tIns="833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CN" sz="820">
                  <a:solidFill>
                    <a:srgbClr val="333333"/>
                  </a:solidFill>
                </a:rPr>
                <a:t>MonthlyCharges</a:t>
              </a:r>
              <a:endParaRPr b="1" sz="820">
                <a:solidFill>
                  <a:srgbClr val="333333"/>
                </a:solidFill>
              </a:endParaRPr>
            </a:p>
          </p:txBody>
        </p:sp>
        <p:sp>
          <p:nvSpPr>
            <p:cNvPr id="108" name="Google Shape;108;p20"/>
            <p:cNvSpPr/>
            <p:nvPr/>
          </p:nvSpPr>
          <p:spPr>
            <a:xfrm>
              <a:off x="142950" y="4520550"/>
              <a:ext cx="1171500" cy="216900"/>
            </a:xfrm>
            <a:prstGeom prst="rect">
              <a:avLst/>
            </a:prstGeom>
            <a:solidFill>
              <a:srgbClr val="D9D2E9"/>
            </a:solidFill>
            <a:ln>
              <a:noFill/>
            </a:ln>
            <a:effectLst>
              <a:outerShdw blurRad="52083" rotWithShape="0" algn="bl" dir="5400000" dist="17361">
                <a:srgbClr val="000000">
                  <a:alpha val="50000"/>
                </a:srgbClr>
              </a:outerShdw>
            </a:effectLst>
          </p:spPr>
          <p:txBody>
            <a:bodyPr anchorCtr="0" anchor="ctr" bIns="83325" lIns="83325" spcFirstLastPara="1" rIns="83325" wrap="square" tIns="833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CN" sz="820">
                  <a:solidFill>
                    <a:srgbClr val="333333"/>
                  </a:solidFill>
                </a:rPr>
                <a:t>TotalCharges</a:t>
              </a:r>
              <a:endParaRPr b="1" sz="820">
                <a:solidFill>
                  <a:srgbClr val="333333"/>
                </a:solidFill>
              </a:endParaRPr>
            </a:p>
          </p:txBody>
        </p:sp>
        <p:sp>
          <p:nvSpPr>
            <p:cNvPr id="109" name="Google Shape;109;p20"/>
            <p:cNvSpPr/>
            <p:nvPr/>
          </p:nvSpPr>
          <p:spPr>
            <a:xfrm>
              <a:off x="142950" y="4786125"/>
              <a:ext cx="1171500" cy="216900"/>
            </a:xfrm>
            <a:prstGeom prst="rect">
              <a:avLst/>
            </a:prstGeom>
            <a:solidFill>
              <a:srgbClr val="D9D2E9"/>
            </a:solidFill>
            <a:ln>
              <a:noFill/>
            </a:ln>
            <a:effectLst>
              <a:outerShdw blurRad="52083" rotWithShape="0" algn="bl" dir="5400000" dist="17361">
                <a:srgbClr val="000000">
                  <a:alpha val="50000"/>
                </a:srgbClr>
              </a:outerShdw>
            </a:effectLst>
          </p:spPr>
          <p:txBody>
            <a:bodyPr anchorCtr="0" anchor="ctr" bIns="83325" lIns="83325" spcFirstLastPara="1" rIns="83325" wrap="square" tIns="833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CN" sz="820">
                  <a:solidFill>
                    <a:srgbClr val="333333"/>
                  </a:solidFill>
                </a:rPr>
                <a:t>tenure</a:t>
              </a:r>
              <a:endParaRPr b="1" sz="820">
                <a:solidFill>
                  <a:srgbClr val="333333"/>
                </a:solidFill>
              </a:endParaRPr>
            </a:p>
          </p:txBody>
        </p:sp>
        <p:sp>
          <p:nvSpPr>
            <p:cNvPr id="110" name="Google Shape;110;p20"/>
            <p:cNvSpPr/>
            <p:nvPr/>
          </p:nvSpPr>
          <p:spPr>
            <a:xfrm>
              <a:off x="142950" y="2160898"/>
              <a:ext cx="1171500" cy="216900"/>
            </a:xfrm>
            <a:prstGeom prst="rect">
              <a:avLst/>
            </a:prstGeom>
            <a:solidFill>
              <a:srgbClr val="D9EAD3"/>
            </a:solidFill>
            <a:ln>
              <a:noFill/>
            </a:ln>
            <a:effectLst>
              <a:outerShdw blurRad="52083" rotWithShape="0" algn="bl" dir="5400000" dist="17361">
                <a:srgbClr val="000000">
                  <a:alpha val="50000"/>
                </a:srgbClr>
              </a:outerShdw>
            </a:effectLst>
          </p:spPr>
          <p:txBody>
            <a:bodyPr anchorCtr="0" anchor="ctr" bIns="83325" lIns="83325" spcFirstLastPara="1" rIns="83325" wrap="square" tIns="833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CN" sz="820">
                  <a:solidFill>
                    <a:srgbClr val="333333"/>
                  </a:solidFill>
                </a:rPr>
                <a:t>PaymentMethod</a:t>
              </a:r>
              <a:endParaRPr b="1" sz="820">
                <a:solidFill>
                  <a:srgbClr val="333333"/>
                </a:solidFill>
              </a:endParaRPr>
            </a:p>
          </p:txBody>
        </p:sp>
        <p:sp>
          <p:nvSpPr>
            <p:cNvPr id="111" name="Google Shape;111;p20"/>
            <p:cNvSpPr/>
            <p:nvPr/>
          </p:nvSpPr>
          <p:spPr>
            <a:xfrm>
              <a:off x="142950" y="1903038"/>
              <a:ext cx="1171500" cy="216900"/>
            </a:xfrm>
            <a:prstGeom prst="rect">
              <a:avLst/>
            </a:prstGeom>
            <a:solidFill>
              <a:srgbClr val="D9EAD3"/>
            </a:solidFill>
            <a:ln>
              <a:noFill/>
            </a:ln>
            <a:effectLst>
              <a:outerShdw blurRad="52083" rotWithShape="0" algn="bl" dir="5400000" dist="17361">
                <a:srgbClr val="000000">
                  <a:alpha val="50000"/>
                </a:srgbClr>
              </a:outerShdw>
            </a:effectLst>
          </p:spPr>
          <p:txBody>
            <a:bodyPr anchorCtr="0" anchor="ctr" bIns="83325" lIns="83325" spcFirstLastPara="1" rIns="83325" wrap="square" tIns="833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CN" sz="820">
                  <a:solidFill>
                    <a:srgbClr val="333333"/>
                  </a:solidFill>
                </a:rPr>
                <a:t>Contract</a:t>
              </a:r>
              <a:endParaRPr b="1" sz="820">
                <a:solidFill>
                  <a:srgbClr val="333333"/>
                </a:solidFill>
              </a:endParaRPr>
            </a:p>
          </p:txBody>
        </p:sp>
        <p:grpSp>
          <p:nvGrpSpPr>
            <p:cNvPr id="112" name="Google Shape;112;p20"/>
            <p:cNvGrpSpPr/>
            <p:nvPr/>
          </p:nvGrpSpPr>
          <p:grpSpPr>
            <a:xfrm>
              <a:off x="142950" y="2676588"/>
              <a:ext cx="1171500" cy="1803013"/>
              <a:chOff x="694225" y="3019288"/>
              <a:chExt cx="1171500" cy="1803013"/>
            </a:xfrm>
          </p:grpSpPr>
          <p:sp>
            <p:nvSpPr>
              <p:cNvPr id="113" name="Google Shape;113;p20"/>
              <p:cNvSpPr/>
              <p:nvPr/>
            </p:nvSpPr>
            <p:spPr>
              <a:xfrm>
                <a:off x="694225" y="3548000"/>
                <a:ext cx="1171500" cy="216900"/>
              </a:xfrm>
              <a:prstGeom prst="rect">
                <a:avLst/>
              </a:prstGeom>
              <a:solidFill>
                <a:srgbClr val="CFE2F3"/>
              </a:solidFill>
              <a:ln>
                <a:noFill/>
              </a:ln>
              <a:effectLst>
                <a:outerShdw blurRad="52083" rotWithShape="0" algn="bl" dir="5400000" dist="17361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83325" lIns="83325" spcFirstLastPara="1" rIns="83325" wrap="square" tIns="833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zh-CN" sz="820">
                    <a:solidFill>
                      <a:srgbClr val="333333"/>
                    </a:solidFill>
                  </a:rPr>
                  <a:t>StreamingTV</a:t>
                </a:r>
                <a:endParaRPr b="1" sz="820">
                  <a:solidFill>
                    <a:srgbClr val="333333"/>
                  </a:solidFill>
                </a:endParaRPr>
              </a:p>
            </p:txBody>
          </p:sp>
          <p:sp>
            <p:nvSpPr>
              <p:cNvPr id="114" name="Google Shape;114;p20"/>
              <p:cNvSpPr/>
              <p:nvPr/>
            </p:nvSpPr>
            <p:spPr>
              <a:xfrm>
                <a:off x="694225" y="3812350"/>
                <a:ext cx="1171500" cy="216900"/>
              </a:xfrm>
              <a:prstGeom prst="rect">
                <a:avLst/>
              </a:prstGeom>
              <a:solidFill>
                <a:srgbClr val="CFE2F3"/>
              </a:solidFill>
              <a:ln>
                <a:noFill/>
              </a:ln>
              <a:effectLst>
                <a:outerShdw blurRad="52083" rotWithShape="0" algn="bl" dir="5400000" dist="17361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83325" lIns="83325" spcFirstLastPara="1" rIns="83325" wrap="square" tIns="833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zh-CN" sz="820">
                    <a:solidFill>
                      <a:srgbClr val="333333"/>
                    </a:solidFill>
                  </a:rPr>
                  <a:t>InternetService</a:t>
                </a:r>
                <a:endParaRPr b="1" sz="820">
                  <a:solidFill>
                    <a:srgbClr val="333333"/>
                  </a:solidFill>
                </a:endParaRPr>
              </a:p>
            </p:txBody>
          </p:sp>
          <p:sp>
            <p:nvSpPr>
              <p:cNvPr id="115" name="Google Shape;115;p20"/>
              <p:cNvSpPr/>
              <p:nvPr/>
            </p:nvSpPr>
            <p:spPr>
              <a:xfrm>
                <a:off x="694225" y="4076700"/>
                <a:ext cx="1171500" cy="216900"/>
              </a:xfrm>
              <a:prstGeom prst="rect">
                <a:avLst/>
              </a:prstGeom>
              <a:solidFill>
                <a:srgbClr val="CFE2F3"/>
              </a:solidFill>
              <a:ln>
                <a:noFill/>
              </a:ln>
              <a:effectLst>
                <a:outerShdw blurRad="52083" rotWithShape="0" algn="bl" dir="5400000" dist="17361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83325" lIns="83325" spcFirstLastPara="1" rIns="83325" wrap="square" tIns="833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zh-CN" sz="820">
                    <a:solidFill>
                      <a:srgbClr val="333333"/>
                    </a:solidFill>
                  </a:rPr>
                  <a:t>DeviceProtection</a:t>
                </a:r>
                <a:endParaRPr b="1" sz="820">
                  <a:solidFill>
                    <a:srgbClr val="333333"/>
                  </a:solidFill>
                </a:endParaRPr>
              </a:p>
            </p:txBody>
          </p:sp>
          <p:sp>
            <p:nvSpPr>
              <p:cNvPr id="116" name="Google Shape;116;p20"/>
              <p:cNvSpPr/>
              <p:nvPr/>
            </p:nvSpPr>
            <p:spPr>
              <a:xfrm>
                <a:off x="694225" y="4341050"/>
                <a:ext cx="1171500" cy="216900"/>
              </a:xfrm>
              <a:prstGeom prst="rect">
                <a:avLst/>
              </a:prstGeom>
              <a:solidFill>
                <a:srgbClr val="CFE2F3"/>
              </a:solidFill>
              <a:ln>
                <a:noFill/>
              </a:ln>
              <a:effectLst>
                <a:outerShdw blurRad="52083" rotWithShape="0" algn="bl" dir="5400000" dist="17361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83325" lIns="83325" spcFirstLastPara="1" rIns="83325" wrap="square" tIns="833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zh-CN" sz="820">
                    <a:solidFill>
                      <a:srgbClr val="333333"/>
                    </a:solidFill>
                  </a:rPr>
                  <a:t>OnlineSecurity</a:t>
                </a:r>
                <a:endParaRPr b="1" sz="820">
                  <a:solidFill>
                    <a:srgbClr val="333333"/>
                  </a:solidFill>
                </a:endParaRPr>
              </a:p>
            </p:txBody>
          </p:sp>
          <p:sp>
            <p:nvSpPr>
              <p:cNvPr id="117" name="Google Shape;117;p20"/>
              <p:cNvSpPr/>
              <p:nvPr/>
            </p:nvSpPr>
            <p:spPr>
              <a:xfrm>
                <a:off x="694225" y="4605400"/>
                <a:ext cx="1171500" cy="216900"/>
              </a:xfrm>
              <a:prstGeom prst="rect">
                <a:avLst/>
              </a:prstGeom>
              <a:solidFill>
                <a:srgbClr val="CFE2F3"/>
              </a:solidFill>
              <a:ln>
                <a:noFill/>
              </a:ln>
              <a:effectLst>
                <a:outerShdw blurRad="52083" rotWithShape="0" algn="bl" dir="5400000" dist="17361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83325" lIns="83325" spcFirstLastPara="1" rIns="83325" wrap="square" tIns="833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zh-CN" sz="820">
                    <a:solidFill>
                      <a:srgbClr val="333333"/>
                    </a:solidFill>
                  </a:rPr>
                  <a:t>TechSupport</a:t>
                </a:r>
                <a:endParaRPr b="1" sz="820">
                  <a:solidFill>
                    <a:srgbClr val="333333"/>
                  </a:solidFill>
                </a:endParaRPr>
              </a:p>
            </p:txBody>
          </p:sp>
          <p:sp>
            <p:nvSpPr>
              <p:cNvPr id="118" name="Google Shape;118;p20"/>
              <p:cNvSpPr/>
              <p:nvPr/>
            </p:nvSpPr>
            <p:spPr>
              <a:xfrm>
                <a:off x="694225" y="3019288"/>
                <a:ext cx="1171500" cy="216900"/>
              </a:xfrm>
              <a:prstGeom prst="rect">
                <a:avLst/>
              </a:prstGeom>
              <a:solidFill>
                <a:srgbClr val="CFE2F3"/>
              </a:solidFill>
              <a:ln>
                <a:noFill/>
              </a:ln>
              <a:effectLst>
                <a:outerShdw blurRad="52083" rotWithShape="0" algn="bl" dir="5400000" dist="17361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83325" lIns="83325" spcFirstLastPara="1" rIns="83325" wrap="square" tIns="833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zh-CN" sz="820">
                    <a:solidFill>
                      <a:srgbClr val="333333"/>
                    </a:solidFill>
                  </a:rPr>
                  <a:t>OnlineBackup</a:t>
                </a:r>
                <a:endParaRPr b="1" sz="820">
                  <a:solidFill>
                    <a:srgbClr val="333333"/>
                  </a:solidFill>
                </a:endParaRPr>
              </a:p>
            </p:txBody>
          </p:sp>
          <p:sp>
            <p:nvSpPr>
              <p:cNvPr id="119" name="Google Shape;119;p20"/>
              <p:cNvSpPr/>
              <p:nvPr/>
            </p:nvSpPr>
            <p:spPr>
              <a:xfrm>
                <a:off x="694225" y="3283638"/>
                <a:ext cx="1171500" cy="216900"/>
              </a:xfrm>
              <a:prstGeom prst="rect">
                <a:avLst/>
              </a:prstGeom>
              <a:solidFill>
                <a:srgbClr val="CFE2F3"/>
              </a:solidFill>
              <a:ln>
                <a:noFill/>
              </a:ln>
              <a:effectLst>
                <a:outerShdw blurRad="52083" rotWithShape="0" algn="bl" dir="5400000" dist="17361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83325" lIns="83325" spcFirstLastPara="1" rIns="83325" wrap="square" tIns="833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zh-CN" sz="820">
                    <a:solidFill>
                      <a:srgbClr val="333333"/>
                    </a:solidFill>
                  </a:rPr>
                  <a:t>StreamingMovies</a:t>
                </a:r>
                <a:endParaRPr b="1" sz="820">
                  <a:solidFill>
                    <a:srgbClr val="333333"/>
                  </a:solidFill>
                </a:endParaRPr>
              </a:p>
            </p:txBody>
          </p:sp>
        </p:grpSp>
        <p:sp>
          <p:nvSpPr>
            <p:cNvPr id="120" name="Google Shape;120;p20"/>
            <p:cNvSpPr/>
            <p:nvPr/>
          </p:nvSpPr>
          <p:spPr>
            <a:xfrm>
              <a:off x="142950" y="1099421"/>
              <a:ext cx="1171500" cy="216900"/>
            </a:xfrm>
            <a:prstGeom prst="rect">
              <a:avLst/>
            </a:prstGeom>
            <a:solidFill>
              <a:srgbClr val="FCE5CD"/>
            </a:solidFill>
            <a:ln>
              <a:noFill/>
            </a:ln>
            <a:effectLst>
              <a:outerShdw blurRad="52083" rotWithShape="0" algn="bl" dir="5400000" dist="17361">
                <a:srgbClr val="000000">
                  <a:alpha val="50000"/>
                </a:srgbClr>
              </a:outerShdw>
            </a:effectLst>
          </p:spPr>
          <p:txBody>
            <a:bodyPr anchorCtr="0" anchor="ctr" bIns="83325" lIns="83325" spcFirstLastPara="1" rIns="83325" wrap="square" tIns="833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CN" sz="820">
                  <a:solidFill>
                    <a:srgbClr val="333333"/>
                  </a:solidFill>
                </a:rPr>
                <a:t>Partner</a:t>
              </a:r>
              <a:endParaRPr b="1" sz="820">
                <a:solidFill>
                  <a:srgbClr val="333333"/>
                </a:solidFill>
              </a:endParaRPr>
            </a:p>
          </p:txBody>
        </p:sp>
        <p:cxnSp>
          <p:nvCxnSpPr>
            <p:cNvPr id="121" name="Google Shape;121;p20"/>
            <p:cNvCxnSpPr>
              <a:stCxn id="118" idx="3"/>
              <a:endCxn id="122" idx="1"/>
            </p:cNvCxnSpPr>
            <p:nvPr/>
          </p:nvCxnSpPr>
          <p:spPr>
            <a:xfrm flipH="1" rot="10800000">
              <a:off x="1314450" y="2781738"/>
              <a:ext cx="478500" cy="3300"/>
            </a:xfrm>
            <a:prstGeom prst="straightConnector1">
              <a:avLst/>
            </a:prstGeom>
            <a:noFill/>
            <a:ln cap="flat" cmpd="sng" w="867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22" name="Google Shape;122;p20"/>
            <p:cNvSpPr/>
            <p:nvPr/>
          </p:nvSpPr>
          <p:spPr>
            <a:xfrm>
              <a:off x="1792925" y="2673148"/>
              <a:ext cx="1171500" cy="216900"/>
            </a:xfrm>
            <a:prstGeom prst="rect">
              <a:avLst/>
            </a:prstGeom>
            <a:solidFill>
              <a:srgbClr val="EA9999"/>
            </a:solidFill>
            <a:ln>
              <a:noFill/>
            </a:ln>
            <a:effectLst>
              <a:outerShdw blurRad="52083" rotWithShape="0" algn="bl" dir="5400000" dist="17361">
                <a:srgbClr val="000000">
                  <a:alpha val="50000"/>
                </a:srgbClr>
              </a:outerShdw>
            </a:effectLst>
          </p:spPr>
          <p:txBody>
            <a:bodyPr anchorCtr="0" anchor="ctr" bIns="83325" lIns="83325" spcFirstLastPara="1" rIns="83325" wrap="square" tIns="833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CN" sz="820">
                  <a:solidFill>
                    <a:srgbClr val="333333"/>
                  </a:solidFill>
                </a:rPr>
                <a:t>XGBoost</a:t>
              </a:r>
              <a:endParaRPr b="1" sz="820">
                <a:solidFill>
                  <a:srgbClr val="333333"/>
                </a:solidFill>
              </a:endParaRPr>
            </a:p>
          </p:txBody>
        </p:sp>
        <p:cxnSp>
          <p:nvCxnSpPr>
            <p:cNvPr id="123" name="Google Shape;123;p20"/>
            <p:cNvCxnSpPr>
              <a:endCxn id="124" idx="1"/>
            </p:cNvCxnSpPr>
            <p:nvPr/>
          </p:nvCxnSpPr>
          <p:spPr>
            <a:xfrm flipH="1" rot="10800000">
              <a:off x="2964350" y="2781596"/>
              <a:ext cx="390300" cy="3600"/>
            </a:xfrm>
            <a:prstGeom prst="straightConnector1">
              <a:avLst/>
            </a:prstGeom>
            <a:noFill/>
            <a:ln cap="flat" cmpd="sng" w="867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24" name="Google Shape;124;p20"/>
            <p:cNvSpPr/>
            <p:nvPr/>
          </p:nvSpPr>
          <p:spPr>
            <a:xfrm>
              <a:off x="3354650" y="2673146"/>
              <a:ext cx="1171500" cy="216900"/>
            </a:xfrm>
            <a:prstGeom prst="rect">
              <a:avLst/>
            </a:prstGeom>
            <a:solidFill>
              <a:srgbClr val="F4CCCC"/>
            </a:solidFill>
            <a:ln>
              <a:noFill/>
            </a:ln>
            <a:effectLst>
              <a:outerShdw blurRad="52083" rotWithShape="0" algn="bl" dir="5400000" dist="17361">
                <a:srgbClr val="000000">
                  <a:alpha val="50000"/>
                </a:srgbClr>
              </a:outerShdw>
            </a:effectLst>
          </p:spPr>
          <p:txBody>
            <a:bodyPr anchorCtr="0" anchor="ctr" bIns="83325" lIns="83325" spcFirstLastPara="1" rIns="83325" wrap="square" tIns="833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CN" sz="820">
                  <a:solidFill>
                    <a:srgbClr val="333333"/>
                  </a:solidFill>
                </a:rPr>
                <a:t>Churn</a:t>
              </a:r>
              <a:endParaRPr b="1" sz="820">
                <a:solidFill>
                  <a:srgbClr val="333333"/>
                </a:solidFill>
              </a:endParaRPr>
            </a:p>
          </p:txBody>
        </p:sp>
        <p:sp>
          <p:nvSpPr>
            <p:cNvPr id="125" name="Google Shape;125;p20"/>
            <p:cNvSpPr txBox="1"/>
            <p:nvPr/>
          </p:nvSpPr>
          <p:spPr>
            <a:xfrm>
              <a:off x="142950" y="510850"/>
              <a:ext cx="1171500" cy="21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3325" lIns="83325" spcFirstLastPara="1" rIns="83325" wrap="square" tIns="833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CN" sz="1002">
                  <a:solidFill>
                    <a:schemeClr val="dk2"/>
                  </a:solidFill>
                </a:rPr>
                <a:t>説明変数</a:t>
              </a:r>
              <a:endParaRPr b="1" sz="1002">
                <a:solidFill>
                  <a:schemeClr val="dk2"/>
                </a:solidFill>
              </a:endParaRPr>
            </a:p>
          </p:txBody>
        </p:sp>
        <p:pic>
          <p:nvPicPr>
            <p:cNvPr id="126" name="Google Shape;126;p2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526050" y="2726725"/>
              <a:ext cx="352425" cy="1238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7" name="Google Shape;127;p20"/>
            <p:cNvSpPr/>
            <p:nvPr/>
          </p:nvSpPr>
          <p:spPr>
            <a:xfrm>
              <a:off x="4803725" y="2418750"/>
              <a:ext cx="1712400" cy="691500"/>
            </a:xfrm>
            <a:prstGeom prst="rect">
              <a:avLst/>
            </a:prstGeom>
            <a:solidFill>
              <a:srgbClr val="E6B8AF"/>
            </a:solidFill>
            <a:ln>
              <a:noFill/>
            </a:ln>
            <a:effectLst>
              <a:outerShdw blurRad="52083" rotWithShape="0" algn="bl" dir="5400000" dist="17361">
                <a:srgbClr val="000000">
                  <a:alpha val="50000"/>
                </a:srgbClr>
              </a:outerShdw>
            </a:effectLst>
          </p:spPr>
          <p:txBody>
            <a:bodyPr anchorCtr="0" anchor="ctr" bIns="83325" lIns="83325" spcFirstLastPara="1" rIns="83325" wrap="square" tIns="833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CN" sz="820">
                  <a:solidFill>
                    <a:srgbClr val="333333"/>
                  </a:solidFill>
                </a:rPr>
                <a:t>モデルに基づき</a:t>
              </a:r>
              <a:endParaRPr b="1" sz="820">
                <a:solidFill>
                  <a:srgbClr val="333333"/>
                </a:solidFill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CN" sz="820">
                  <a:solidFill>
                    <a:srgbClr val="333333"/>
                  </a:solidFill>
                </a:rPr>
                <a:t>特徴量の重要性を計算する</a:t>
              </a:r>
              <a:endParaRPr b="1" sz="820">
                <a:solidFill>
                  <a:srgbClr val="333333"/>
                </a:solidFill>
              </a:endParaRPr>
            </a:p>
          </p:txBody>
        </p:sp>
        <p:sp>
          <p:nvSpPr>
            <p:cNvPr id="128" name="Google Shape;128;p20"/>
            <p:cNvSpPr txBox="1"/>
            <p:nvPr/>
          </p:nvSpPr>
          <p:spPr>
            <a:xfrm>
              <a:off x="3354650" y="2377800"/>
              <a:ext cx="1171500" cy="21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3325" lIns="83325" spcFirstLastPara="1" rIns="83325" wrap="square" tIns="833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CN" sz="1002">
                  <a:solidFill>
                    <a:schemeClr val="dk2"/>
                  </a:solidFill>
                </a:rPr>
                <a:t>目的</a:t>
              </a:r>
              <a:r>
                <a:rPr b="1" lang="zh-CN" sz="1002">
                  <a:solidFill>
                    <a:schemeClr val="dk2"/>
                  </a:solidFill>
                </a:rPr>
                <a:t>変数</a:t>
              </a:r>
              <a:endParaRPr b="1" sz="1002">
                <a:solidFill>
                  <a:schemeClr val="dk2"/>
                </a:solidFill>
              </a:endParaRPr>
            </a:p>
          </p:txBody>
        </p:sp>
      </p:grpSp>
      <p:sp>
        <p:nvSpPr>
          <p:cNvPr id="129" name="Google Shape;129;p20"/>
          <p:cNvSpPr txBox="1"/>
          <p:nvPr/>
        </p:nvSpPr>
        <p:spPr>
          <a:xfrm>
            <a:off x="2072375" y="3658550"/>
            <a:ext cx="6563700" cy="8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zh-CN" sz="1100">
                <a:solidFill>
                  <a:srgbClr val="3E3A39"/>
                </a:solidFill>
              </a:rPr>
              <a:t>※ 特徴量重要度（Feature Importance）とは、XGBoostモデルにおいて、</a:t>
            </a:r>
            <a:endParaRPr sz="1100">
              <a:solidFill>
                <a:srgbClr val="3E3A3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zh-CN" sz="1100">
                <a:solidFill>
                  <a:srgbClr val="3E3A39"/>
                </a:solidFill>
              </a:rPr>
              <a:t>各特徴量が予測結果にどの程度寄与しているかを示す指標</a:t>
            </a:r>
            <a:endParaRPr sz="1100">
              <a:solidFill>
                <a:srgbClr val="3E3A3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3E3A39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30" name="Google Shape;130;p20"/>
          <p:cNvSpPr txBox="1"/>
          <p:nvPr/>
        </p:nvSpPr>
        <p:spPr>
          <a:xfrm>
            <a:off x="142950" y="508800"/>
            <a:ext cx="8764800" cy="34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zh-CN" sz="1100">
                <a:solidFill>
                  <a:srgbClr val="3E3A39"/>
                </a:solidFill>
              </a:rPr>
              <a:t>分析方法：16個の説明変数でXGBoostを使用して機械学習を行い、それぞれの特徴重要度を計算して結論を導き出す</a:t>
            </a:r>
            <a:endParaRPr sz="1100">
              <a:solidFill>
                <a:srgbClr val="3E3A3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1"/>
          <p:cNvSpPr txBox="1"/>
          <p:nvPr>
            <p:ph type="title"/>
          </p:nvPr>
        </p:nvSpPr>
        <p:spPr>
          <a:xfrm>
            <a:off x="270925" y="1759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zh-CN" sz="2200">
                <a:solidFill>
                  <a:srgbClr val="0B1565"/>
                </a:solidFill>
                <a:latin typeface="Arial"/>
                <a:ea typeface="Arial"/>
                <a:cs typeface="Arial"/>
                <a:sym typeface="Arial"/>
              </a:rPr>
              <a:t>特徴の重要度ーー結果</a:t>
            </a:r>
            <a:endParaRPr b="1" sz="1800">
              <a:solidFill>
                <a:srgbClr val="0B156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6" name="Google Shape;13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925" y="690450"/>
            <a:ext cx="4417450" cy="2745652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1"/>
          <p:cNvSpPr txBox="1"/>
          <p:nvPr>
            <p:ph idx="1" type="body"/>
          </p:nvPr>
        </p:nvSpPr>
        <p:spPr>
          <a:xfrm>
            <a:off x="4402900" y="657800"/>
            <a:ext cx="4681500" cy="438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特徴量重要度（XGBoost）から見られた傾向</a:t>
            </a:r>
            <a:endParaRPr sz="900">
              <a:solidFill>
                <a:srgbClr val="333333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CN" sz="9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1. </a:t>
            </a:r>
            <a:r>
              <a:rPr b="1" lang="zh-CN" sz="9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離散変数</a:t>
            </a:r>
            <a:r>
              <a:rPr lang="zh-CN" sz="9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の重要度</a:t>
            </a:r>
            <a:endParaRPr sz="90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●"/>
            </a:pPr>
            <a:r>
              <a:rPr lang="zh-CN" sz="900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Contract（契約タイプ）：最重要</a:t>
            </a:r>
            <a:r>
              <a:rPr lang="zh-CN" sz="9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（約 0.43）→ 解約予測に最も大きく影響</a:t>
            </a:r>
            <a:endParaRPr sz="90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●"/>
            </a:pPr>
            <a:r>
              <a:rPr lang="zh-CN" sz="900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OnlineSecurity・</a:t>
            </a:r>
            <a:r>
              <a:rPr lang="zh-CN" sz="900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TechSupport</a:t>
            </a:r>
            <a:r>
              <a:rPr lang="zh-CN" sz="9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：中度重要（約 0.14、0.10）</a:t>
            </a:r>
            <a:endParaRPr sz="90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●"/>
            </a:pPr>
            <a:r>
              <a:rPr lang="zh-CN" sz="900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tenure：</a:t>
            </a:r>
            <a:r>
              <a:rPr lang="zh-CN" sz="9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三番目大切（約0.04）</a:t>
            </a:r>
            <a:endParaRPr sz="90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Arial"/>
              <a:buChar char="●"/>
            </a:pPr>
            <a:r>
              <a:rPr lang="zh-CN" sz="9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その他の変数（</a:t>
            </a:r>
            <a:r>
              <a:rPr lang="zh-CN" sz="9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TechSupport、</a:t>
            </a:r>
            <a:r>
              <a:rPr lang="zh-CN" sz="9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tenure、Dependents、InternetService、StreamingMovies、MonthlyCharges、StreamingTV、PaymentMethod、OnlineBackup、TotalCharges、Partner、DeviceProtection、PaperlessBilling、SeniorCitizen）：　→ 影響は比較的小さ</a:t>
            </a:r>
            <a:r>
              <a:rPr lang="zh-CN" sz="9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い</a:t>
            </a:r>
            <a:endParaRPr sz="90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CN" sz="9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2. </a:t>
            </a:r>
            <a:r>
              <a:rPr b="1" lang="zh-CN" sz="9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連続変数</a:t>
            </a:r>
            <a:r>
              <a:rPr lang="zh-CN" sz="9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の重要度</a:t>
            </a:r>
            <a:endParaRPr sz="90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457200" rtl="0" algn="l">
              <a:spcBef>
                <a:spcPts val="120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Arial"/>
              <a:buChar char="●"/>
            </a:pPr>
            <a:r>
              <a:rPr lang="zh-CN" sz="900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MonthlyCharges</a:t>
            </a:r>
            <a:r>
              <a:rPr lang="zh-CN" sz="9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：0.03</a:t>
            </a:r>
            <a:br>
              <a:rPr lang="zh-CN" sz="9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</a:br>
            <a:endParaRPr sz="90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Arial"/>
              <a:buChar char="●"/>
            </a:pPr>
            <a:r>
              <a:rPr lang="zh-CN" sz="900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TotalCharges</a:t>
            </a:r>
            <a:r>
              <a:rPr lang="zh-CN" sz="9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：0.02</a:t>
            </a:r>
            <a:endParaRPr sz="90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CN" sz="9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顧客維持施策を検討する際は、　　　　　　　　　　　　　　　　　　　　　　　　</a:t>
            </a:r>
            <a:r>
              <a:rPr lang="zh-CN" sz="900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Contract・OnlineSecurity・</a:t>
            </a:r>
            <a:r>
              <a:rPr lang="zh-CN" sz="900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MonthlyCharges・TotalCharges</a:t>
            </a:r>
            <a:r>
              <a:rPr lang="zh-CN" sz="9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を最優先で考える。</a:t>
            </a:r>
            <a:endParaRPr sz="90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333333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1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333333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1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900">
              <a:solidFill>
                <a:srgbClr val="333333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2"/>
          <p:cNvSpPr txBox="1"/>
          <p:nvPr>
            <p:ph type="title"/>
          </p:nvPr>
        </p:nvSpPr>
        <p:spPr>
          <a:xfrm>
            <a:off x="270925" y="1759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b="1" lang="zh-CN" sz="1400">
                <a:solidFill>
                  <a:srgbClr val="0B1565"/>
                </a:solidFill>
                <a:latin typeface="Arial"/>
                <a:ea typeface="Arial"/>
                <a:cs typeface="Arial"/>
                <a:sym typeface="Arial"/>
              </a:rPr>
              <a:t>Contract・OnlineSecurity・tenureの分布状況を見直し（離散変数）</a:t>
            </a:r>
            <a:endParaRPr b="1" sz="1400">
              <a:solidFill>
                <a:srgbClr val="0B156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800">
              <a:solidFill>
                <a:srgbClr val="0B1565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43" name="Google Shape;14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925" y="608800"/>
            <a:ext cx="5647149" cy="133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1948400"/>
            <a:ext cx="5647149" cy="1372949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2"/>
          <p:cNvSpPr txBox="1"/>
          <p:nvPr/>
        </p:nvSpPr>
        <p:spPr>
          <a:xfrm>
            <a:off x="5918075" y="748675"/>
            <a:ext cx="3540000" cy="42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2413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zh-CN" sz="800">
                <a:solidFill>
                  <a:srgbClr val="333333"/>
                </a:solidFill>
                <a:highlight>
                  <a:srgbClr val="FFFFFF"/>
                </a:highlight>
              </a:rPr>
              <a:t>図から、</a:t>
            </a:r>
            <a:endParaRPr sz="8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0" marR="2413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zh-CN" sz="800">
                <a:solidFill>
                  <a:srgbClr val="333333"/>
                </a:solidFill>
                <a:highlight>
                  <a:srgbClr val="FFFFFF"/>
                </a:highlight>
              </a:rPr>
              <a:t>- </a:t>
            </a:r>
            <a:r>
              <a:rPr lang="zh-CN" sz="800">
                <a:solidFill>
                  <a:srgbClr val="CC0000"/>
                </a:solidFill>
                <a:highlight>
                  <a:srgbClr val="FFFFFF"/>
                </a:highlight>
              </a:rPr>
              <a:t>Month-to-month契約</a:t>
            </a:r>
            <a:r>
              <a:rPr lang="zh-CN" sz="800">
                <a:solidFill>
                  <a:srgbClr val="333333"/>
                </a:solidFill>
                <a:highlight>
                  <a:srgbClr val="FFFFFF"/>
                </a:highlight>
              </a:rPr>
              <a:t>の顧客は解約しやすい傾向が見られ、　　　　特に注目して対応する必要がある</a:t>
            </a:r>
            <a:endParaRPr sz="8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0" marR="2413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zh-CN" sz="800">
                <a:solidFill>
                  <a:srgbClr val="333333"/>
                </a:solidFill>
                <a:highlight>
                  <a:srgbClr val="FFFFFF"/>
                </a:highlight>
              </a:rPr>
              <a:t>- </a:t>
            </a:r>
            <a:r>
              <a:rPr lang="zh-CN" sz="800">
                <a:solidFill>
                  <a:srgbClr val="CC0000"/>
                </a:solidFill>
                <a:highlight>
                  <a:srgbClr val="FFFFFF"/>
                </a:highlight>
              </a:rPr>
              <a:t>OnlineSecurityを契約しない</a:t>
            </a:r>
            <a:r>
              <a:rPr lang="zh-CN" sz="800">
                <a:solidFill>
                  <a:srgbClr val="333333"/>
                </a:solidFill>
                <a:highlight>
                  <a:srgbClr val="FFFFFF"/>
                </a:highlight>
              </a:rPr>
              <a:t>顧客は解約しやすい傾向が見られ、　特に注目して対応する必要がある</a:t>
            </a:r>
            <a:endParaRPr sz="8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0" marR="2413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zh-CN" sz="800">
                <a:solidFill>
                  <a:srgbClr val="333333"/>
                </a:solidFill>
                <a:highlight>
                  <a:srgbClr val="FFFFFF"/>
                </a:highlight>
              </a:rPr>
              <a:t>- </a:t>
            </a:r>
            <a:r>
              <a:rPr lang="zh-CN" sz="800">
                <a:solidFill>
                  <a:srgbClr val="CC0000"/>
                </a:solidFill>
                <a:highlight>
                  <a:srgbClr val="FFFFFF"/>
                </a:highlight>
              </a:rPr>
              <a:t>契約から最初の5か月間</a:t>
            </a:r>
            <a:r>
              <a:rPr lang="zh-CN" sz="800">
                <a:solidFill>
                  <a:srgbClr val="333333"/>
                </a:solidFill>
                <a:highlight>
                  <a:srgbClr val="FFFFFF"/>
                </a:highlight>
              </a:rPr>
              <a:t>は顧客が最も流失しやすい</a:t>
            </a:r>
            <a:r>
              <a:rPr lang="zh-CN" sz="800">
                <a:solidFill>
                  <a:srgbClr val="333333"/>
                </a:solidFill>
                <a:highlight>
                  <a:srgbClr val="FFFFFF"/>
                </a:highlight>
              </a:rPr>
              <a:t>傾向が見られ</a:t>
            </a:r>
            <a:r>
              <a:rPr lang="zh-CN" sz="800">
                <a:solidFill>
                  <a:srgbClr val="333333"/>
                </a:solidFill>
                <a:highlight>
                  <a:srgbClr val="FFFFFF"/>
                </a:highlight>
              </a:rPr>
              <a:t>、特に注目して対応する必要があります。</a:t>
            </a:r>
            <a:endParaRPr sz="8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0" marR="2413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 sz="105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zh-CN" sz="800">
                <a:solidFill>
                  <a:srgbClr val="333333"/>
                </a:solidFill>
              </a:rPr>
              <a:t>顧客維持施策を検討する際は、　　　　　　　　　　　　　　　　　　　上記で重要度の高かった顧客群を対象に、　　　　　　　　　　　　　　優先的に施策を検討する必要がある。</a:t>
            </a:r>
            <a:endParaRPr sz="8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0" marR="241300" rtl="0" algn="l">
              <a:lnSpc>
                <a:spcPct val="115000"/>
              </a:lnSpc>
              <a:spcBef>
                <a:spcPts val="1200"/>
              </a:spcBef>
              <a:spcAft>
                <a:spcPts val="500"/>
              </a:spcAft>
              <a:buNone/>
            </a:pPr>
            <a:r>
              <a:t/>
            </a:r>
            <a:endParaRPr sz="1050">
              <a:highlight>
                <a:srgbClr val="FFFFFF"/>
              </a:highlight>
            </a:endParaRPr>
          </a:p>
        </p:txBody>
      </p:sp>
      <p:pic>
        <p:nvPicPr>
          <p:cNvPr id="146" name="Google Shape;146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5675" y="3416475"/>
            <a:ext cx="5647149" cy="13521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3"/>
          <p:cNvSpPr txBox="1"/>
          <p:nvPr>
            <p:ph type="title"/>
          </p:nvPr>
        </p:nvSpPr>
        <p:spPr>
          <a:xfrm>
            <a:off x="270925" y="1759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b="1" lang="zh-CN" sz="1400">
                <a:solidFill>
                  <a:srgbClr val="0B1565"/>
                </a:solidFill>
                <a:latin typeface="Arial"/>
                <a:ea typeface="Arial"/>
                <a:cs typeface="Arial"/>
                <a:sym typeface="Arial"/>
              </a:rPr>
              <a:t>MonthlyCharges・TotalChargesの分布状況を見直し</a:t>
            </a:r>
            <a:r>
              <a:rPr b="1" lang="zh-CN" sz="1400">
                <a:solidFill>
                  <a:srgbClr val="0B1565"/>
                </a:solidFill>
                <a:latin typeface="Arial"/>
                <a:ea typeface="Arial"/>
                <a:cs typeface="Arial"/>
                <a:sym typeface="Arial"/>
              </a:rPr>
              <a:t>（連続変数）</a:t>
            </a:r>
            <a:endParaRPr b="1" sz="1400">
              <a:solidFill>
                <a:srgbClr val="0B156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800">
              <a:solidFill>
                <a:srgbClr val="0B1565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52" name="Google Shape;15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09002" y="630700"/>
            <a:ext cx="2987248" cy="2189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0925" y="630703"/>
            <a:ext cx="3023651" cy="218905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3"/>
          <p:cNvSpPr txBox="1"/>
          <p:nvPr/>
        </p:nvSpPr>
        <p:spPr>
          <a:xfrm>
            <a:off x="270925" y="3003200"/>
            <a:ext cx="7216800" cy="19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2413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zh-CN" sz="900">
                <a:solidFill>
                  <a:srgbClr val="333333"/>
                </a:solidFill>
                <a:highlight>
                  <a:srgbClr val="FFFFFF"/>
                </a:highlight>
              </a:rPr>
              <a:t>図から、</a:t>
            </a:r>
            <a:endParaRPr sz="9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0" marR="2413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zh-CN" sz="900">
                <a:solidFill>
                  <a:srgbClr val="333333"/>
                </a:solidFill>
                <a:highlight>
                  <a:srgbClr val="FFFFFF"/>
                </a:highlight>
              </a:rPr>
              <a:t>- </a:t>
            </a:r>
            <a:r>
              <a:rPr lang="zh-CN" sz="900">
                <a:solidFill>
                  <a:srgbClr val="CC0000"/>
                </a:solidFill>
                <a:highlight>
                  <a:srgbClr val="FFFFFF"/>
                </a:highlight>
              </a:rPr>
              <a:t>月額利用料金が60〜110ドル</a:t>
            </a:r>
            <a:r>
              <a:rPr lang="zh-CN" sz="900">
                <a:solidFill>
                  <a:srgbClr val="333333"/>
                </a:solidFill>
                <a:highlight>
                  <a:srgbClr val="FFFFFF"/>
                </a:highlight>
              </a:rPr>
              <a:t>の顧客は流失しやすい</a:t>
            </a:r>
            <a:r>
              <a:rPr lang="zh-CN" sz="900">
                <a:solidFill>
                  <a:srgbClr val="333333"/>
                </a:solidFill>
                <a:highlight>
                  <a:srgbClr val="FFFFFF"/>
                </a:highlight>
              </a:rPr>
              <a:t>傾向が見られ、特に注目して対応する必要がある</a:t>
            </a:r>
            <a:endParaRPr sz="9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0" marR="2413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zh-CN" sz="900">
                <a:solidFill>
                  <a:srgbClr val="333333"/>
                </a:solidFill>
                <a:highlight>
                  <a:srgbClr val="FFFFFF"/>
                </a:highlight>
              </a:rPr>
              <a:t>- </a:t>
            </a:r>
            <a:r>
              <a:rPr lang="zh-CN" sz="900">
                <a:solidFill>
                  <a:srgbClr val="CC0000"/>
                </a:solidFill>
                <a:highlight>
                  <a:srgbClr val="FFFFFF"/>
                </a:highlight>
              </a:rPr>
              <a:t>総利用料金が0-2000ドル</a:t>
            </a:r>
            <a:r>
              <a:rPr lang="zh-CN" sz="900">
                <a:solidFill>
                  <a:srgbClr val="333333"/>
                </a:solidFill>
                <a:highlight>
                  <a:srgbClr val="FFFFFF"/>
                </a:highlight>
              </a:rPr>
              <a:t>の顧客は流失しやすい</a:t>
            </a:r>
            <a:r>
              <a:rPr lang="zh-CN" sz="900">
                <a:solidFill>
                  <a:srgbClr val="333333"/>
                </a:solidFill>
                <a:highlight>
                  <a:srgbClr val="FFFFFF"/>
                </a:highlight>
              </a:rPr>
              <a:t>傾向が見られ、特に注目して対応する必要がある</a:t>
            </a:r>
            <a:endParaRPr sz="9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0" marR="2413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zh-CN" sz="900">
                <a:solidFill>
                  <a:srgbClr val="333333"/>
                </a:solidFill>
              </a:rPr>
              <a:t>顧客維持施策を検討する際は、上記で重要度の高かった顧客群を対象に、優先的に施策を検討する必要がある。</a:t>
            </a:r>
            <a:endParaRPr sz="9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0" marR="241300" rtl="0" algn="l">
              <a:lnSpc>
                <a:spcPct val="115000"/>
              </a:lnSpc>
              <a:spcBef>
                <a:spcPts val="1200"/>
              </a:spcBef>
              <a:spcAft>
                <a:spcPts val="500"/>
              </a:spcAft>
              <a:buNone/>
            </a:pPr>
            <a:r>
              <a:t/>
            </a:r>
            <a:endParaRPr sz="900">
              <a:solidFill>
                <a:srgbClr val="333333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4"/>
          <p:cNvSpPr txBox="1"/>
          <p:nvPr>
            <p:ph type="title"/>
          </p:nvPr>
        </p:nvSpPr>
        <p:spPr>
          <a:xfrm>
            <a:off x="270925" y="1759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300"/>
              </a:spcBef>
              <a:spcAft>
                <a:spcPts val="0"/>
              </a:spcAft>
              <a:buNone/>
            </a:pPr>
            <a:r>
              <a:rPr b="1" lang="zh-CN" sz="2200">
                <a:solidFill>
                  <a:srgbClr val="0B1565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分析結果まとめと施策提案の方向性</a:t>
            </a:r>
            <a:endParaRPr b="1" sz="2200">
              <a:solidFill>
                <a:srgbClr val="0B1565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800">
              <a:solidFill>
                <a:srgbClr val="0B156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24"/>
          <p:cNvSpPr txBox="1"/>
          <p:nvPr/>
        </p:nvSpPr>
        <p:spPr>
          <a:xfrm>
            <a:off x="270925" y="803025"/>
            <a:ext cx="8872800" cy="29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900">
                <a:solidFill>
                  <a:srgbClr val="333333"/>
                </a:solidFill>
                <a:highlight>
                  <a:srgbClr val="FFFFFF"/>
                </a:highlight>
              </a:rPr>
              <a:t>統計分析とXGBoostによる特徴量重要度の出力結果をまとめると、解約しやすい顧客の特徴は以下の通りです（重要度の高い順）：</a:t>
            </a:r>
            <a:endParaRPr b="1" sz="9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rgbClr val="333333"/>
              </a:buClr>
              <a:buSzPts val="900"/>
              <a:buAutoNum type="arabicPeriod"/>
            </a:pPr>
            <a:r>
              <a:rPr lang="zh-CN" sz="900">
                <a:solidFill>
                  <a:srgbClr val="333333"/>
                </a:solidFill>
                <a:highlight>
                  <a:srgbClr val="FFFFFF"/>
                </a:highlight>
              </a:rPr>
              <a:t>Contract：月単位契約</a:t>
            </a:r>
            <a:endParaRPr sz="9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AutoNum type="arabicPeriod"/>
            </a:pPr>
            <a:r>
              <a:rPr lang="zh-CN" sz="900">
                <a:solidFill>
                  <a:srgbClr val="333333"/>
                </a:solidFill>
                <a:highlight>
                  <a:srgbClr val="FFFFFF"/>
                </a:highlight>
              </a:rPr>
              <a:t>OnlineSecurity：ネットワークセキュリティサービス未契約</a:t>
            </a:r>
            <a:endParaRPr sz="9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AutoNum type="arabicPeriod"/>
            </a:pPr>
            <a:r>
              <a:rPr lang="zh-CN" sz="900">
                <a:solidFill>
                  <a:srgbClr val="333333"/>
                </a:solidFill>
                <a:highlight>
                  <a:srgbClr val="FFFFFF"/>
                </a:highlight>
              </a:rPr>
              <a:t> TechSupport：技術サポートサービス未契約</a:t>
            </a:r>
            <a:endParaRPr sz="9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AutoNum type="arabicPeriod"/>
            </a:pPr>
            <a:r>
              <a:rPr lang="zh-CN" sz="900">
                <a:solidFill>
                  <a:srgbClr val="333333"/>
                </a:solidFill>
                <a:highlight>
                  <a:srgbClr val="FFFFFF"/>
                </a:highlight>
              </a:rPr>
              <a:t> tenure：契約開始後5か月以内の顧客</a:t>
            </a:r>
            <a:endParaRPr sz="9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AutoNum type="arabicPeriod"/>
            </a:pPr>
            <a:r>
              <a:rPr lang="zh-CN" sz="900">
                <a:solidFill>
                  <a:srgbClr val="333333"/>
                </a:solidFill>
                <a:highlight>
                  <a:srgbClr val="FFFFFF"/>
                </a:highlight>
              </a:rPr>
              <a:t> Dependents：扶養家族なし</a:t>
            </a:r>
            <a:endParaRPr sz="9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b="1" lang="zh-CN" sz="900">
                <a:solidFill>
                  <a:srgbClr val="333333"/>
                </a:solidFill>
                <a:highlight>
                  <a:srgbClr val="FFFFFF"/>
                </a:highlight>
              </a:rPr>
              <a:t>顧客を維持するには、主に2つの方向から考えれる：</a:t>
            </a:r>
            <a:endParaRPr b="1" sz="9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rgbClr val="333333"/>
              </a:buClr>
              <a:buSzPts val="900"/>
              <a:buChar char="●"/>
            </a:pPr>
            <a:r>
              <a:rPr lang="zh-CN" sz="900">
                <a:solidFill>
                  <a:srgbClr val="333333"/>
                </a:solidFill>
                <a:highlight>
                  <a:srgbClr val="FFFFFF"/>
                </a:highlight>
              </a:rPr>
              <a:t>ユーザーのサンクコストを増やす</a:t>
            </a:r>
            <a:endParaRPr sz="9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Char char="●"/>
            </a:pPr>
            <a:r>
              <a:rPr lang="zh-CN" sz="900">
                <a:solidFill>
                  <a:srgbClr val="333333"/>
                </a:solidFill>
                <a:highlight>
                  <a:srgbClr val="FFFFFF"/>
                </a:highlight>
              </a:rPr>
              <a:t>ユーザーの利用習慣を育てる</a:t>
            </a:r>
            <a:endParaRPr sz="9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900">
              <a:solidFill>
                <a:srgbClr val="333333"/>
              </a:solidFill>
            </a:endParaRPr>
          </a:p>
        </p:txBody>
      </p:sp>
      <p:sp>
        <p:nvSpPr>
          <p:cNvPr id="161" name="Google Shape;161;p24"/>
          <p:cNvSpPr txBox="1"/>
          <p:nvPr/>
        </p:nvSpPr>
        <p:spPr>
          <a:xfrm>
            <a:off x="4653625" y="4817750"/>
            <a:ext cx="46326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zh-CN" sz="700">
                <a:solidFill>
                  <a:srgbClr val="666666"/>
                </a:solidFill>
                <a:latin typeface="Proxima Nova"/>
                <a:ea typeface="Proxima Nova"/>
                <a:cs typeface="Proxima Nova"/>
                <a:sym typeface="Proxima Nova"/>
              </a:rPr>
              <a:t>※クロス集計：2つの項目の比率を相対比較　例：優良会員30％に対し、商品の売上比率 &gt;30％ → 人気商品</a:t>
            </a:r>
            <a:endParaRPr sz="700">
              <a:solidFill>
                <a:srgbClr val="666666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5"/>
          <p:cNvSpPr txBox="1"/>
          <p:nvPr>
            <p:ph type="title"/>
          </p:nvPr>
        </p:nvSpPr>
        <p:spPr>
          <a:xfrm>
            <a:off x="270925" y="1759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300"/>
              </a:spcBef>
              <a:spcAft>
                <a:spcPts val="0"/>
              </a:spcAft>
              <a:buNone/>
            </a:pPr>
            <a:r>
              <a:rPr b="1" lang="zh-CN" sz="2200">
                <a:solidFill>
                  <a:srgbClr val="0B1565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施策提案</a:t>
            </a:r>
            <a:endParaRPr b="1" sz="2200">
              <a:solidFill>
                <a:srgbClr val="0B1565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800">
              <a:solidFill>
                <a:srgbClr val="0B156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25"/>
          <p:cNvSpPr txBox="1"/>
          <p:nvPr/>
        </p:nvSpPr>
        <p:spPr>
          <a:xfrm>
            <a:off x="270925" y="748675"/>
            <a:ext cx="8872800" cy="42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900">
                <a:solidFill>
                  <a:srgbClr val="CC0000"/>
                </a:solidFill>
                <a:highlight>
                  <a:srgbClr val="FFFFFF"/>
                </a:highlight>
              </a:rPr>
              <a:t>施策1：段階的に利用料金を還元する</a:t>
            </a:r>
            <a:endParaRPr b="1" sz="900">
              <a:solidFill>
                <a:srgbClr val="CC0000"/>
              </a:solidFill>
              <a:highlight>
                <a:srgbClr val="FFFFFF"/>
              </a:highlight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rgbClr val="434343"/>
              </a:buClr>
              <a:buSzPts val="900"/>
              <a:buChar char="●"/>
            </a:pPr>
            <a:r>
              <a:rPr b="1" lang="zh-CN" sz="900">
                <a:solidFill>
                  <a:srgbClr val="434343"/>
                </a:solidFill>
                <a:highlight>
                  <a:srgbClr val="FFFFFF"/>
                </a:highlight>
              </a:rPr>
              <a:t>現象</a:t>
            </a:r>
            <a:r>
              <a:rPr lang="zh-CN" sz="900">
                <a:solidFill>
                  <a:srgbClr val="434343"/>
                </a:solidFill>
                <a:highlight>
                  <a:srgbClr val="FFFFFF"/>
                </a:highlight>
              </a:rPr>
              <a:t>：月契約の若年層は解約しやすい</a:t>
            </a:r>
            <a:endParaRPr sz="900">
              <a:solidFill>
                <a:srgbClr val="434343"/>
              </a:solidFill>
              <a:highlight>
                <a:srgbClr val="FFFFFF"/>
              </a:highlight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900"/>
              <a:buChar char="●"/>
            </a:pPr>
            <a:r>
              <a:rPr b="1" lang="zh-CN" sz="900">
                <a:solidFill>
                  <a:srgbClr val="434343"/>
                </a:solidFill>
                <a:highlight>
                  <a:srgbClr val="FFFFFF"/>
                </a:highlight>
              </a:rPr>
              <a:t>仮説</a:t>
            </a:r>
            <a:r>
              <a:rPr lang="zh-CN" sz="900">
                <a:solidFill>
                  <a:srgbClr val="434343"/>
                </a:solidFill>
                <a:highlight>
                  <a:srgbClr val="FFFFFF"/>
                </a:highlight>
              </a:rPr>
              <a:t>：これらの顧客は、価格に敏感で、学生や社会人1～2年目などが多いと想定される</a:t>
            </a:r>
            <a:endParaRPr sz="900">
              <a:solidFill>
                <a:srgbClr val="434343"/>
              </a:solidFill>
              <a:highlight>
                <a:srgbClr val="FFFFFF"/>
              </a:highlight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900"/>
              <a:buChar char="●"/>
            </a:pPr>
            <a:r>
              <a:rPr b="1" lang="zh-CN" sz="900">
                <a:solidFill>
                  <a:srgbClr val="434343"/>
                </a:solidFill>
                <a:highlight>
                  <a:srgbClr val="FFFFFF"/>
                </a:highlight>
              </a:rPr>
              <a:t>提案</a:t>
            </a:r>
            <a:r>
              <a:rPr lang="zh-CN" sz="900">
                <a:solidFill>
                  <a:srgbClr val="434343"/>
                </a:solidFill>
                <a:highlight>
                  <a:srgbClr val="FFFFFF"/>
                </a:highlight>
              </a:rPr>
              <a:t>：チャージ時に段階的に利用料金を還元することで、継続利用を促すことができる。</a:t>
            </a:r>
            <a:endParaRPr sz="900">
              <a:solidFill>
                <a:srgbClr val="434343"/>
              </a:solidFill>
              <a:highlight>
                <a:srgbClr val="FFFFFF"/>
              </a:highlight>
            </a:endParaRPr>
          </a:p>
          <a:p>
            <a:pPr indent="-2857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900"/>
              <a:buChar char="■"/>
            </a:pPr>
            <a:r>
              <a:rPr lang="zh-CN" sz="900">
                <a:solidFill>
                  <a:srgbClr val="434343"/>
                </a:solidFill>
                <a:highlight>
                  <a:srgbClr val="FFFFFF"/>
                </a:highlight>
              </a:rPr>
              <a:t>例：50ドルをチャージすると50ドルを還元するが、一度に還元せず、10か月に分けて還元する。すなわち、月額利用料が50ドルの場合、　　　　　　実質的には10回の「チャージ50ドル＋5ドル割引」の施策となる。</a:t>
            </a:r>
            <a:endParaRPr sz="900">
              <a:solidFill>
                <a:srgbClr val="434343"/>
              </a:solidFill>
              <a:highlight>
                <a:srgbClr val="FFFFFF"/>
              </a:highlight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900"/>
              <a:buChar char="●"/>
            </a:pPr>
            <a:r>
              <a:rPr b="1" lang="zh-CN" sz="900">
                <a:solidFill>
                  <a:srgbClr val="434343"/>
                </a:solidFill>
                <a:highlight>
                  <a:srgbClr val="FFFFFF"/>
                </a:highlight>
              </a:rPr>
              <a:t>ロジック</a:t>
            </a:r>
            <a:r>
              <a:rPr lang="zh-CN" sz="900">
                <a:solidFill>
                  <a:srgbClr val="434343"/>
                </a:solidFill>
                <a:highlight>
                  <a:srgbClr val="FFFFFF"/>
                </a:highlight>
              </a:rPr>
              <a:t>：ユーザーのサンクコストを増やし、解約を防ぐ</a:t>
            </a:r>
            <a:endParaRPr sz="900">
              <a:solidFill>
                <a:srgbClr val="434343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b="1" lang="zh-CN" sz="900">
                <a:solidFill>
                  <a:srgbClr val="CC0000"/>
                </a:solidFill>
                <a:highlight>
                  <a:srgbClr val="FFFFFF"/>
                </a:highlight>
              </a:rPr>
              <a:t>施策2：TechSupport、OnlineSecurity、InternetService などのサービスを1か月間無料体験として提供する</a:t>
            </a:r>
            <a:endParaRPr b="1" sz="900">
              <a:solidFill>
                <a:srgbClr val="CC0000"/>
              </a:solidFill>
              <a:highlight>
                <a:srgbClr val="FFFFFF"/>
              </a:highlight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rgbClr val="434343"/>
              </a:buClr>
              <a:buSzPts val="900"/>
              <a:buChar char="●"/>
            </a:pPr>
            <a:r>
              <a:rPr b="1" lang="zh-CN" sz="900">
                <a:solidFill>
                  <a:srgbClr val="434343"/>
                </a:solidFill>
                <a:highlight>
                  <a:srgbClr val="FFFFFF"/>
                </a:highlight>
              </a:rPr>
              <a:t>現象</a:t>
            </a:r>
            <a:r>
              <a:rPr lang="zh-CN" sz="900">
                <a:solidFill>
                  <a:srgbClr val="434343"/>
                </a:solidFill>
                <a:highlight>
                  <a:srgbClr val="FFFFFF"/>
                </a:highlight>
              </a:rPr>
              <a:t>：TechSupport、OnlineSecurity、InternetServiceを契約しないユーザーは流失しやすい</a:t>
            </a:r>
            <a:endParaRPr sz="900">
              <a:solidFill>
                <a:srgbClr val="434343"/>
              </a:solidFill>
              <a:highlight>
                <a:srgbClr val="FFFFFF"/>
              </a:highlight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900"/>
              <a:buChar char="●"/>
            </a:pPr>
            <a:r>
              <a:rPr b="1" lang="zh-CN" sz="900">
                <a:solidFill>
                  <a:srgbClr val="434343"/>
                </a:solidFill>
                <a:highlight>
                  <a:srgbClr val="FFFFFF"/>
                </a:highlight>
              </a:rPr>
              <a:t>仮説</a:t>
            </a:r>
            <a:r>
              <a:rPr lang="zh-CN" sz="900">
                <a:solidFill>
                  <a:srgbClr val="434343"/>
                </a:solidFill>
                <a:highlight>
                  <a:srgbClr val="FFFFFF"/>
                </a:highlight>
              </a:rPr>
              <a:t>：光ファイバー、技術サポート、ネットワークセキュリティなどのサービスを利用することで、解約時に面倒を感じさせ、解約を防ぐ</a:t>
            </a:r>
            <a:endParaRPr sz="900">
              <a:solidFill>
                <a:srgbClr val="434343"/>
              </a:solidFill>
              <a:highlight>
                <a:srgbClr val="FFFFFF"/>
              </a:highlight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900"/>
              <a:buChar char="●"/>
            </a:pPr>
            <a:r>
              <a:rPr b="1" lang="zh-CN" sz="900">
                <a:solidFill>
                  <a:srgbClr val="434343"/>
                </a:solidFill>
                <a:highlight>
                  <a:srgbClr val="FFFFFF"/>
                </a:highlight>
              </a:rPr>
              <a:t>提案</a:t>
            </a:r>
            <a:r>
              <a:rPr lang="zh-CN" sz="900">
                <a:solidFill>
                  <a:srgbClr val="434343"/>
                </a:solidFill>
                <a:highlight>
                  <a:srgbClr val="FFFFFF"/>
                </a:highlight>
              </a:rPr>
              <a:t>：以下のサービスを1ヶ月間の無料体験を提供し、サービスの利用を促進</a:t>
            </a:r>
            <a:endParaRPr sz="900">
              <a:solidFill>
                <a:srgbClr val="434343"/>
              </a:solidFill>
              <a:highlight>
                <a:srgbClr val="FFFFFF"/>
              </a:highlight>
            </a:endParaRPr>
          </a:p>
          <a:p>
            <a:pPr indent="-2857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900"/>
              <a:buChar char="■"/>
            </a:pPr>
            <a:r>
              <a:rPr lang="zh-CN" sz="900">
                <a:solidFill>
                  <a:srgbClr val="434343"/>
                </a:solidFill>
                <a:highlight>
                  <a:srgbClr val="FFFFFF"/>
                </a:highlight>
              </a:rPr>
              <a:t>光ファイバー</a:t>
            </a:r>
            <a:endParaRPr sz="900">
              <a:solidFill>
                <a:srgbClr val="434343"/>
              </a:solidFill>
              <a:highlight>
                <a:srgbClr val="FFFFFF"/>
              </a:highlight>
            </a:endParaRPr>
          </a:p>
          <a:p>
            <a:pPr indent="-2857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900"/>
              <a:buChar char="■"/>
            </a:pPr>
            <a:r>
              <a:rPr lang="zh-CN" sz="900">
                <a:solidFill>
                  <a:srgbClr val="434343"/>
                </a:solidFill>
                <a:highlight>
                  <a:srgbClr val="FFFFFF"/>
                </a:highlight>
              </a:rPr>
              <a:t>技術サポートサービス</a:t>
            </a:r>
            <a:endParaRPr sz="900">
              <a:solidFill>
                <a:srgbClr val="434343"/>
              </a:solidFill>
              <a:highlight>
                <a:srgbClr val="FFFFFF"/>
              </a:highlight>
            </a:endParaRPr>
          </a:p>
          <a:p>
            <a:pPr indent="-2857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900"/>
              <a:buChar char="■"/>
            </a:pPr>
            <a:r>
              <a:rPr lang="zh-CN" sz="900">
                <a:solidFill>
                  <a:srgbClr val="434343"/>
                </a:solidFill>
                <a:highlight>
                  <a:srgbClr val="FFFFFF"/>
                </a:highlight>
              </a:rPr>
              <a:t>ネットワークセキュリティサービス</a:t>
            </a:r>
            <a:endParaRPr sz="900">
              <a:solidFill>
                <a:srgbClr val="434343"/>
              </a:solidFill>
              <a:highlight>
                <a:srgbClr val="FFFFFF"/>
              </a:highlight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900"/>
              <a:buChar char="●"/>
            </a:pPr>
            <a:r>
              <a:rPr b="1" lang="zh-CN" sz="900">
                <a:solidFill>
                  <a:srgbClr val="434343"/>
                </a:solidFill>
                <a:highlight>
                  <a:srgbClr val="FFFFFF"/>
                </a:highlight>
              </a:rPr>
              <a:t>ロジック</a:t>
            </a:r>
            <a:r>
              <a:rPr lang="zh-CN" sz="900">
                <a:solidFill>
                  <a:srgbClr val="434343"/>
                </a:solidFill>
                <a:highlight>
                  <a:srgbClr val="FFFFFF"/>
                </a:highlight>
              </a:rPr>
              <a:t>：付加価値サービスによりユーザーのサンクコストを増やし、解約を防ぐ</a:t>
            </a:r>
            <a:endParaRPr sz="900">
              <a:solidFill>
                <a:srgbClr val="434343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900">
              <a:solidFill>
                <a:srgbClr val="333333"/>
              </a:solidFill>
              <a:highlight>
                <a:srgbClr val="FFFFFF"/>
              </a:highlight>
            </a:endParaRPr>
          </a:p>
        </p:txBody>
      </p:sp>
      <p:sp>
        <p:nvSpPr>
          <p:cNvPr id="168" name="Google Shape;168;p25"/>
          <p:cNvSpPr txBox="1"/>
          <p:nvPr/>
        </p:nvSpPr>
        <p:spPr>
          <a:xfrm>
            <a:off x="4653625" y="4817750"/>
            <a:ext cx="46326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zh-CN" sz="700">
                <a:solidFill>
                  <a:srgbClr val="666666"/>
                </a:solidFill>
                <a:latin typeface="Proxima Nova"/>
                <a:ea typeface="Proxima Nova"/>
                <a:cs typeface="Proxima Nova"/>
                <a:sym typeface="Proxima Nova"/>
              </a:rPr>
              <a:t>※クロス集計：2つの項目の比率を相対比較　例：優良会員30％に対し、商品の売上比率 &gt;30％ → 人気商品</a:t>
            </a:r>
            <a:endParaRPr sz="700">
              <a:solidFill>
                <a:srgbClr val="666666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6"/>
          <p:cNvSpPr txBox="1"/>
          <p:nvPr>
            <p:ph type="title"/>
          </p:nvPr>
        </p:nvSpPr>
        <p:spPr>
          <a:xfrm>
            <a:off x="270925" y="1759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300"/>
              </a:spcBef>
              <a:spcAft>
                <a:spcPts val="0"/>
              </a:spcAft>
              <a:buNone/>
            </a:pPr>
            <a:r>
              <a:rPr b="1" lang="zh-CN" sz="2200">
                <a:solidFill>
                  <a:srgbClr val="0B1565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施策提案</a:t>
            </a:r>
            <a:endParaRPr b="1" sz="2200">
              <a:solidFill>
                <a:srgbClr val="0B1565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800">
              <a:solidFill>
                <a:srgbClr val="0B156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26"/>
          <p:cNvSpPr txBox="1"/>
          <p:nvPr/>
        </p:nvSpPr>
        <p:spPr>
          <a:xfrm>
            <a:off x="270925" y="786700"/>
            <a:ext cx="8872800" cy="42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900">
                <a:solidFill>
                  <a:srgbClr val="CC0000"/>
                </a:solidFill>
                <a:highlight>
                  <a:srgbClr val="FFFFFF"/>
                </a:highlight>
              </a:rPr>
              <a:t>施策3：デジタル決済特典</a:t>
            </a:r>
            <a:endParaRPr b="1" sz="900">
              <a:solidFill>
                <a:srgbClr val="CC0000"/>
              </a:solidFill>
              <a:highlight>
                <a:srgbClr val="FFFFFF"/>
              </a:highlight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rgbClr val="333333"/>
              </a:buClr>
              <a:buSzPts val="900"/>
              <a:buChar char="●"/>
            </a:pPr>
            <a:r>
              <a:rPr b="1" lang="zh-CN" sz="900">
                <a:solidFill>
                  <a:srgbClr val="333333"/>
                </a:solidFill>
                <a:highlight>
                  <a:srgbClr val="FFFFFF"/>
                </a:highlight>
              </a:rPr>
              <a:t>現象</a:t>
            </a:r>
            <a:r>
              <a:rPr lang="zh-CN" sz="900">
                <a:solidFill>
                  <a:srgbClr val="333333"/>
                </a:solidFill>
                <a:highlight>
                  <a:srgbClr val="FFFFFF"/>
                </a:highlight>
              </a:rPr>
              <a:t>：「デジタル決済」を使っている人ほど解約しやすい</a:t>
            </a:r>
            <a:endParaRPr sz="9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Char char="●"/>
            </a:pPr>
            <a:r>
              <a:rPr b="1" lang="zh-CN" sz="900">
                <a:solidFill>
                  <a:srgbClr val="333333"/>
                </a:solidFill>
                <a:highlight>
                  <a:srgbClr val="FFFFFF"/>
                </a:highlight>
              </a:rPr>
              <a:t>仮説</a:t>
            </a:r>
            <a:r>
              <a:rPr lang="zh-CN" sz="900">
                <a:solidFill>
                  <a:srgbClr val="333333"/>
                </a:solidFill>
                <a:highlight>
                  <a:srgbClr val="FFFFFF"/>
                </a:highlight>
              </a:rPr>
              <a:t>：価格に敏感で、電子請求書で支出を管理している可能性がある</a:t>
            </a:r>
            <a:endParaRPr sz="9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Char char="●"/>
            </a:pPr>
            <a:r>
              <a:rPr b="1" lang="zh-CN" sz="900">
                <a:solidFill>
                  <a:srgbClr val="333333"/>
                </a:solidFill>
                <a:highlight>
                  <a:srgbClr val="FFFFFF"/>
                </a:highlight>
              </a:rPr>
              <a:t>提案</a:t>
            </a:r>
            <a:r>
              <a:rPr lang="zh-CN" sz="900">
                <a:solidFill>
                  <a:srgbClr val="333333"/>
                </a:solidFill>
                <a:highlight>
                  <a:srgbClr val="FFFFFF"/>
                </a:highlight>
              </a:rPr>
              <a:t>：電子請求書を“単なる請求手段”ではなく、特典付きサービスにする</a:t>
            </a:r>
            <a:endParaRPr sz="9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-2857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Char char="■"/>
            </a:pPr>
            <a:r>
              <a:rPr lang="zh-CN" sz="900">
                <a:solidFill>
                  <a:srgbClr val="333333"/>
                </a:solidFill>
                <a:highlight>
                  <a:srgbClr val="FFFFFF"/>
                </a:highlight>
              </a:rPr>
              <a:t>例：コンビニチェーンと連携し、商品割引クーポンを毎月の請求書と一緒に送付</a:t>
            </a:r>
            <a:endParaRPr sz="9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-2857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Char char="○"/>
            </a:pPr>
            <a:r>
              <a:rPr lang="zh-CN" sz="900">
                <a:solidFill>
                  <a:srgbClr val="333333"/>
                </a:solidFill>
                <a:highlight>
                  <a:srgbClr val="FFFFFF"/>
                </a:highlight>
              </a:rPr>
              <a:t>例文：「先月のご利用金額はXX円でした。LV1/LV2/LV3などの会員特典を解放しました！XXクーポンです！」</a:t>
            </a:r>
            <a:endParaRPr sz="9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Char char="●"/>
            </a:pPr>
            <a:r>
              <a:rPr b="1" lang="zh-CN" sz="900">
                <a:solidFill>
                  <a:srgbClr val="333333"/>
                </a:solidFill>
                <a:highlight>
                  <a:srgbClr val="FFFFFF"/>
                </a:highlight>
              </a:rPr>
              <a:t>ロジック</a:t>
            </a:r>
            <a:r>
              <a:rPr lang="zh-CN" sz="900">
                <a:solidFill>
                  <a:srgbClr val="333333"/>
                </a:solidFill>
                <a:highlight>
                  <a:srgbClr val="FFFFFF"/>
                </a:highlight>
              </a:rPr>
              <a:t>：ユーザーのサンクコストを増やし、解約を防ぐ</a:t>
            </a:r>
            <a:endParaRPr sz="9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b="1" lang="zh-CN" sz="900">
                <a:solidFill>
                  <a:srgbClr val="CC0000"/>
                </a:solidFill>
                <a:highlight>
                  <a:srgbClr val="FFFFFF"/>
                </a:highlight>
              </a:rPr>
              <a:t>施策4：「独身ユーザー」専用特典</a:t>
            </a:r>
            <a:endParaRPr b="1" sz="900">
              <a:solidFill>
                <a:srgbClr val="CC0000"/>
              </a:solidFill>
              <a:highlight>
                <a:srgbClr val="FFFFFF"/>
              </a:highlight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rgbClr val="333333"/>
              </a:buClr>
              <a:buSzPts val="900"/>
              <a:buChar char="●"/>
            </a:pPr>
            <a:r>
              <a:rPr b="1" lang="zh-CN" sz="900">
                <a:solidFill>
                  <a:srgbClr val="333333"/>
                </a:solidFill>
                <a:highlight>
                  <a:srgbClr val="FFFFFF"/>
                </a:highlight>
              </a:rPr>
              <a:t>現象</a:t>
            </a:r>
            <a:r>
              <a:rPr lang="zh-CN" sz="900">
                <a:solidFill>
                  <a:srgbClr val="333333"/>
                </a:solidFill>
                <a:highlight>
                  <a:srgbClr val="FFFFFF"/>
                </a:highlight>
              </a:rPr>
              <a:t>：独身ユーザーは流失しやすい</a:t>
            </a:r>
            <a:endParaRPr sz="9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Char char="●"/>
            </a:pPr>
            <a:r>
              <a:rPr b="1" lang="zh-CN" sz="900">
                <a:solidFill>
                  <a:srgbClr val="333333"/>
                </a:solidFill>
                <a:highlight>
                  <a:srgbClr val="FFFFFF"/>
                </a:highlight>
              </a:rPr>
              <a:t>仮説</a:t>
            </a:r>
            <a:r>
              <a:rPr lang="zh-CN" sz="900">
                <a:solidFill>
                  <a:srgbClr val="333333"/>
                </a:solidFill>
                <a:highlight>
                  <a:srgbClr val="FFFFFF"/>
                </a:highlight>
              </a:rPr>
              <a:t>：独身者は社交的な動機が薄く、ゲームやSNSなどを使ったエンターテインメントを楽しむ傾向がある</a:t>
            </a:r>
            <a:endParaRPr sz="9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Char char="●"/>
            </a:pPr>
            <a:r>
              <a:rPr b="1" lang="zh-CN" sz="900">
                <a:solidFill>
                  <a:srgbClr val="333333"/>
                </a:solidFill>
                <a:highlight>
                  <a:srgbClr val="FFFFFF"/>
                </a:highlight>
              </a:rPr>
              <a:t>提案</a:t>
            </a:r>
            <a:r>
              <a:rPr lang="zh-CN" sz="900">
                <a:solidFill>
                  <a:srgbClr val="333333"/>
                </a:solidFill>
                <a:highlight>
                  <a:srgbClr val="FFFFFF"/>
                </a:highlight>
              </a:rPr>
              <a:t>：通信プランに、ゲームやSNS利用などの特典を追加する</a:t>
            </a:r>
            <a:endParaRPr sz="9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-2857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Char char="■"/>
            </a:pPr>
            <a:r>
              <a:rPr lang="zh-CN" sz="900">
                <a:solidFill>
                  <a:srgbClr val="333333"/>
                </a:solidFill>
                <a:highlight>
                  <a:srgbClr val="FFFFFF"/>
                </a:highlight>
              </a:rPr>
              <a:t>例えば、ゲーム内アイテムと交換できるコードがもらえる</a:t>
            </a:r>
            <a:endParaRPr sz="9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Char char="●"/>
            </a:pPr>
            <a:r>
              <a:rPr b="1" lang="zh-CN" sz="900">
                <a:solidFill>
                  <a:srgbClr val="333333"/>
                </a:solidFill>
                <a:highlight>
                  <a:srgbClr val="FFFFFF"/>
                </a:highlight>
              </a:rPr>
              <a:t>ロジック</a:t>
            </a:r>
            <a:r>
              <a:rPr lang="zh-CN" sz="900">
                <a:solidFill>
                  <a:srgbClr val="333333"/>
                </a:solidFill>
                <a:highlight>
                  <a:srgbClr val="FFFFFF"/>
                </a:highlight>
              </a:rPr>
              <a:t>：ユーザーの利用習慣を育て、解約を防ぐ</a:t>
            </a:r>
            <a:endParaRPr sz="9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900">
              <a:solidFill>
                <a:srgbClr val="FF0000"/>
              </a:solidFill>
              <a:highlight>
                <a:srgbClr val="FFFFFF"/>
              </a:highlight>
            </a:endParaRPr>
          </a:p>
        </p:txBody>
      </p:sp>
      <p:sp>
        <p:nvSpPr>
          <p:cNvPr id="175" name="Google Shape;175;p26"/>
          <p:cNvSpPr txBox="1"/>
          <p:nvPr/>
        </p:nvSpPr>
        <p:spPr>
          <a:xfrm>
            <a:off x="4653625" y="4817750"/>
            <a:ext cx="46326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zh-CN" sz="700">
                <a:solidFill>
                  <a:srgbClr val="666666"/>
                </a:solidFill>
                <a:latin typeface="Proxima Nova"/>
                <a:ea typeface="Proxima Nova"/>
                <a:cs typeface="Proxima Nova"/>
                <a:sym typeface="Proxima Nova"/>
              </a:rPr>
              <a:t>※クロス集計：2つの項目の比率を相対比較　例：優良会員30％に対し、商品の売上比率 &gt;30％ → 人気商品</a:t>
            </a:r>
            <a:endParaRPr sz="700">
              <a:solidFill>
                <a:srgbClr val="666666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0" name="Google Shape;180;p27"/>
          <p:cNvGraphicFramePr/>
          <p:nvPr/>
        </p:nvGraphicFramePr>
        <p:xfrm>
          <a:off x="2408200" y="1111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{999C4DB7-E31E-4600-B2E0-8472FB371ECC}</a:tableStyleId>
              </a:tblPr>
              <a:tblGrid>
                <a:gridCol w="323850"/>
                <a:gridCol w="781050"/>
                <a:gridCol w="933450"/>
                <a:gridCol w="628650"/>
                <a:gridCol w="1011975"/>
              </a:tblGrid>
              <a:tr h="2286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CN" sz="900"/>
                        <a:t>性別</a:t>
                      </a:r>
                      <a:endParaRPr b="1"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CN" sz="900"/>
                        <a:t>解約顧客数</a:t>
                      </a:r>
                      <a:endParaRPr b="1"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CN" sz="900"/>
                        <a:t>未解約顧客数</a:t>
                      </a:r>
                      <a:endParaRPr b="1"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CN" sz="900"/>
                        <a:t>顧客総数</a:t>
                      </a:r>
                      <a:endParaRPr b="1"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CN" sz="900"/>
                        <a:t>解約率 (%)</a:t>
                      </a:r>
                      <a:endParaRPr b="1" sz="900"/>
                    </a:p>
                  </a:txBody>
                  <a:tcPr marT="91425" marB="91425" marR="91425" marL="91425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900"/>
                        <a:t>男性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900">
                          <a:solidFill>
                            <a:srgbClr val="CC0000"/>
                          </a:solidFill>
                        </a:rPr>
                        <a:t>20</a:t>
                      </a:r>
                      <a:endParaRPr sz="900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900"/>
                        <a:t>202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900"/>
                        <a:t>222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900">
                          <a:solidFill>
                            <a:srgbClr val="CC0000"/>
                          </a:solidFill>
                        </a:rPr>
                        <a:t>9.0</a:t>
                      </a:r>
                      <a:endParaRPr sz="900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900"/>
                        <a:t>女性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900">
                          <a:solidFill>
                            <a:srgbClr val="CC0000"/>
                          </a:solidFill>
                        </a:rPr>
                        <a:t>15</a:t>
                      </a:r>
                      <a:endParaRPr sz="900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900"/>
                        <a:t>63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900"/>
                        <a:t>78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900">
                          <a:solidFill>
                            <a:srgbClr val="CC0000"/>
                          </a:solidFill>
                        </a:rPr>
                        <a:t>19.2</a:t>
                      </a:r>
                      <a:endParaRPr sz="900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CN" sz="900"/>
                        <a:t>合計</a:t>
                      </a:r>
                      <a:endParaRPr b="1"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900"/>
                        <a:t>35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900"/>
                        <a:t>265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900"/>
                        <a:t>300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900"/>
                        <a:t>26.5</a:t>
                      </a:r>
                      <a:endParaRPr sz="9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ameday">
  <a:themeElements>
    <a:clrScheme name="Gameday">
      <a:dk1>
        <a:srgbClr val="4285F4"/>
      </a:dk1>
      <a:lt1>
        <a:srgbClr val="FFFFFF"/>
      </a:lt1>
      <a:dk2>
        <a:srgbClr val="666666"/>
      </a:dk2>
      <a:lt2>
        <a:srgbClr val="D9D9D9"/>
      </a:lt2>
      <a:accent1>
        <a:srgbClr val="455A64"/>
      </a:accent1>
      <a:accent2>
        <a:srgbClr val="607D8B"/>
      </a:accent2>
      <a:accent3>
        <a:srgbClr val="FF5722"/>
      </a:accent3>
      <a:accent4>
        <a:srgbClr val="D84315"/>
      </a:accent4>
      <a:accent5>
        <a:srgbClr val="1C3AA9"/>
      </a:accent5>
      <a:accent6>
        <a:srgbClr val="FFAB40"/>
      </a:accent6>
      <a:hlink>
        <a:srgbClr val="1C3AA9"/>
      </a:hlink>
      <a:folHlink>
        <a:srgbClr val="1C3A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